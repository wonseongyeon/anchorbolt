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 볼트 계산 시스템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보고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Anchor Bolt Structural Calculation System — Improvement Report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DD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ACI 318-19 Chapter 17 | Octagonal v3.4  ·  Rectangular v4.52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F6B3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97764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Octagonal v3.4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완성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0" y="397764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F6B36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397764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Rectangular v4.52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4206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완성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0" y="397764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F6B3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97764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긴급보강 이식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4206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완성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0" y="397764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F6B3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397764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개선제안 이식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0" y="4206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완성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601200" y="397764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1F6B36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397764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자동추출 이식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0" y="4206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완성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5303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플랜트사업본부 지반구조설계팀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0" y="5349240"/>
            <a:ext cx="1371600" cy="32004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5669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7월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 차   Contents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75488" cy="47548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969264"/>
            <a:ext cx="1106424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99669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배경 및 목적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197864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Excel 계산서의 한계와 HTML 모듈화 전환의 필요성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522476"/>
            <a:ext cx="475488" cy="4754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5224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1531620"/>
            <a:ext cx="110642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55905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시스템 문제점 진단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760220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ANc·Vb·N1 계산 오류 — 근거 및 영향도 분석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084832"/>
            <a:ext cx="475488" cy="47548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0848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2093976"/>
            <a:ext cx="1106424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12140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버그 수정 내역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322576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공식 및 TC2C 재현 검증 결과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647188"/>
            <a:ext cx="475488" cy="4754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6471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2656332"/>
            <a:ext cx="110642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268376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기능 — 전단키 §17.11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2884932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Shear Lug 지압·파괴 검토 자동화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209544"/>
            <a:ext cx="475488" cy="47548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2095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3218688"/>
            <a:ext cx="1106424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24612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기능 — 긴급 보강 설계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447288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Hilti 화학앵커 예비검토 + 시공 절차 자동 생성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771900"/>
            <a:ext cx="475488" cy="4754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7719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" y="3781044"/>
            <a:ext cx="110642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380847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기능 — N.G 개선 제안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009644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계산엔진 재탐색 기반 단일 변수 대안 제시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4334256"/>
            <a:ext cx="475488" cy="47548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3342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2960" y="4343400"/>
            <a:ext cx="1106424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37083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기능 — 계산서 자동 추출 (베타)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" y="4572000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PDF·Excel에서 설계 입력값 후보 자동 파싱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4896612"/>
            <a:ext cx="475488" cy="4754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48966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22960" y="4905756"/>
            <a:ext cx="110642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493318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Rectangular v4.52 이식 완료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0120" y="5134356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Octagonal 3기능을 사각 페데스탈 버전에 전면 적용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5458968"/>
            <a:ext cx="475488" cy="47548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5458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22960" y="5468112"/>
            <a:ext cx="1106424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" y="549554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결과 요약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60120" y="5696712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--check / jsdom 런타임 / 수치 재현 결과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" y="6021324"/>
            <a:ext cx="475488" cy="47548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" y="60213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22960" y="6030468"/>
            <a:ext cx="110642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60579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 및 첨부 자료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60120" y="6259068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DB 연계 및 표준서 통합 방향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6" name="Text 54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개선 배경 및 목적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Excel 방식의 한계 → HTML 계산 모듈 전환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55778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25880"/>
            <a:ext cx="54864" cy="157276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수식 검증 불가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728216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Excel 셀 수식이 숨겨져 있어 검토자가 계산 근거를 직접 확인하기 어려움. 프로젝트마다 수식이 달라 버전 혼선 발생.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17336" y="1325880"/>
            <a:ext cx="55778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17336" y="1325880"/>
            <a:ext cx="54864" cy="157276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14173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계산 오류 내재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54496" y="1728216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TC2C 문서 분석 결과 ANc 투영면적 3.86× 과대 산정, Vb 전단기본강도 최대 20× 과대 산정 확인 — 안전측 초과 설계 유발.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55778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63240"/>
            <a:ext cx="54864" cy="157276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546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반복 재작업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465576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페데스탈 크기·앵커 수 변경 시 수식 연동 오류 빈번. 재검토에 엔지니어 1~2h 소요.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17336" y="3063240"/>
            <a:ext cx="55778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7336" y="3063240"/>
            <a:ext cx="54864" cy="157276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1" name="Text 19"/>
          <p:cNvSpPr/>
          <p:nvPr/>
        </p:nvSpPr>
        <p:spPr>
          <a:xfrm>
            <a:off x="6254496" y="31546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3D 시각화 부재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54496" y="3465576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 배치·철근 간섭을 평면도만으로 판단. 오시공 리스크 사전 식별 불가.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983480"/>
            <a:ext cx="11548872" cy="1508760"/>
          </a:xfrm>
          <a:prstGeom prst="roundRect">
            <a:avLst>
              <a:gd name="adj" fmla="val 4848"/>
            </a:avLst>
          </a:prstGeom>
          <a:solidFill>
            <a:srgbClr val="EAF3FB"/>
          </a:solidFill>
          <a:ln w="15240">
            <a:solidFill>
              <a:srgbClr val="2E54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047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목표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36752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ACI 318-19 Ch.17 全 조항을 검증 가능한 HTML 계산서로 구현(Octagonal + Rectangular 두 타입)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564184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계산 오류 수정 + 전단키(§17.11) 포함 완전 적합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591616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긴급 보강 설계·N.G 개선 제안·계산서 자동추출로 현장 대응 속도 향상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619048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3D/2D 시각화, PDF/Excel 계산서 자동 출력, JSON 저장/불러오기로 업무 효율 극대화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이전 시스템 문제점 진단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TC2C (SHAHEEN-2300-CI-CAL-0035) 문서 분석 기반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35024"/>
            <a:ext cx="115488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35024"/>
            <a:ext cx="64008" cy="1600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2646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ANc 투영면적 — 사각 경계박스 오류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증상: 팔각형 배치 앵커군의 ANc를 원형 환형이 아닌 전체 사각 경계박스 면적으로 산정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영향: TC2C 기준 3.86× 과대 → φNcbg 3.86× 과대 → 실제 N.G를 O.K로 오판 가능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072384"/>
            <a:ext cx="115488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072384"/>
            <a:ext cx="64008" cy="1600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6382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Vb 전단기본강도 — ca1′ 오사용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493008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증상: 전단 Concrete Breakout의 Vb 산정 시 §17.7.2.1.2의 수정된 ca1′ 대신 원 Ca1 사용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041648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영향: ca1′ &lt;&lt; Ca1인 조건(Ha 낮은 페데스탈)에서 최대 20× 과대 → 전단 용량 크게 과장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4809744"/>
            <a:ext cx="1154887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4809744"/>
            <a:ext cx="64008" cy="160020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9011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N1(0.5hef 내 철근) 산정 오류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5230368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증상: Supplementary Reinforcement 수직철근 수 산정 시 0.5hef 거리 조건 미적용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5779008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영향: 실제보다 많은 N1 산정 → φNnr 과대 → Breakout 대체 검토 불신뢰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핵심 버그 수정 내역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TC2C 문서 수치 재현으로 수정 완료 검증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5577840" cy="2560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29844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ANc — 환형 투영 공식으로 수정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1581912"/>
            <a:ext cx="5449824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전: ANc = (BCD+3hef)² ← 사각 경계박스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후: ANc = π·(R_out² - R_in²)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R_out = BCD/2 + min(Ca1, 1.5hef′)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R_in  = max(0, BCD/2 - 1.5hef′)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TC2C 재현: 계산기 값 ↔ 문서값 일치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16752" y="1298448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752" y="1298448"/>
            <a:ext cx="5577840" cy="2560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089904" y="129844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Vb — 수정 ca1′ 일관 적용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89904" y="1581912"/>
            <a:ext cx="5449824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전: Vb에 원 Ca1 사용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ca1v 수정 §17.7.2.1.2 미반영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후: ca1v = max(Ca2/1.5, Ha/1.5, s/3)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Vb = min(0.6·(le/da)⁰·²√da, 3.7)·λ√f′c·ca1v^1.5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TC2C 재현: Vb=192.71 kN 일치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246120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246120"/>
            <a:ext cx="5577840" cy="256032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3246120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N1 — 0.5hef 거리 조건 적용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3192" y="3529584"/>
            <a:ext cx="544982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전: 페데스탈 둘레 전체 철근 수 사용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후: 각 보강철근~앵커군의 최소거리 ≤ 0.5hef 조건 적용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인장구역 내 유효 철근만 N1에 포함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Nnr = N1·Ar·fy·min(1, Ld1r/Ld)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16752" y="3246120"/>
            <a:ext cx="5577840" cy="1645920"/>
          </a:xfrm>
          <a:prstGeom prst="roundRect">
            <a:avLst>
              <a:gd name="adj" fmla="val 3889"/>
            </a:avLst>
          </a:prstGeom>
          <a:solidFill>
            <a:srgbClr val="EAFAF1"/>
          </a:solidFill>
          <a:ln w="15240">
            <a:solidFill>
              <a:srgbClr val="1F6B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333756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검증 결과 (TC2C 재현)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3675888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63840" y="367588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5,571,545 mm²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652760" y="369417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F6B36"/>
          </a:solidFill>
          <a:ln/>
        </p:spPr>
      </p:sp>
      <p:sp>
        <p:nvSpPr>
          <p:cNvPr id="24" name="Text 22"/>
          <p:cNvSpPr/>
          <p:nvPr/>
        </p:nvSpPr>
        <p:spPr>
          <a:xfrm>
            <a:off x="10652760" y="369417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395935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863840" y="395935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192.71 kN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652760" y="397764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F6B36"/>
          </a:solidFill>
          <a:ln/>
        </p:spPr>
      </p:sp>
      <p:sp>
        <p:nvSpPr>
          <p:cNvPr id="28" name="Text 26"/>
          <p:cNvSpPr/>
          <p:nvPr/>
        </p:nvSpPr>
        <p:spPr>
          <a:xfrm>
            <a:off x="10652760" y="3977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242816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863840" y="4242816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 산정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652760" y="4261104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F6B36"/>
          </a:solidFill>
          <a:ln/>
        </p:spPr>
      </p:sp>
      <p:sp>
        <p:nvSpPr>
          <p:cNvPr id="32" name="Text 30"/>
          <p:cNvSpPr/>
          <p:nvPr/>
        </p:nvSpPr>
        <p:spPr>
          <a:xfrm>
            <a:off x="10652760" y="42611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452628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도구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63840" y="4526280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jsdom 런타임 + node --check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652760" y="454456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F6B36"/>
          </a:solidFill>
          <a:ln/>
        </p:spPr>
      </p:sp>
      <p:sp>
        <p:nvSpPr>
          <p:cNvPr id="36" name="Text 34"/>
          <p:cNvSpPr/>
          <p:nvPr/>
        </p:nvSpPr>
        <p:spPr>
          <a:xfrm>
            <a:off x="10652760" y="45445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신규 기능 — 전단키 §17.11  Shear Lug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ACI 318-19 §17.11 Shear Lug / Plate·Rib — 지압·파괴 검토 자동화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개요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36776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베이스플레이트 하부에 용접된 강판(Plate) 또는 리브(Rib)가 콘크리트에 직접 지압되어 전단력을 저항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929384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전단키 사용 시 앵커는 전단을 부담하지 않고 인장만 검토 (§17.11.1.1.2)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21992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최소 앵커 4EA 요구 (§17.11.1.1.2)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11548872" cy="658368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지압 강도 φVbrg,sl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0" y="2468880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0.65 × 1.7f′c × Aef,sl × ψbrg,sl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0" y="2487168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0606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2487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§17.11.2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127248"/>
            <a:ext cx="115488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1868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콘크리트 파괴 φVcb,sl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23360" y="3218688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0.65 × (AVc/AVco) × ψψψψ × Vb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15600" y="3236976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06064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0" y="32369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§17.11.3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877056"/>
            <a:ext cx="11548872" cy="658368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684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앵커수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23360" y="3968496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≥ 4 EA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515600" y="3986784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06064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0" y="39867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§17.11.1.1.2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626864"/>
            <a:ext cx="115488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1830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유효지압면적 Aef,sl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23360" y="4718304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bsl × min(hef,sl , 2tsl)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515600" y="473659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06064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0" y="47365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§17.11.2.1.1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5376672"/>
            <a:ext cx="11548872" cy="658368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4681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축하중 보정 ψbrg,sl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023360" y="546811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+ 0.8(Pu/0.2f′c·Ac) ≤ 2.0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515600" y="548640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06064"/>
          </a:solidFill>
          <a:ln/>
        </p:spPr>
      </p:sp>
      <p:sp>
        <p:nvSpPr>
          <p:cNvPr id="35" name="Text 33"/>
          <p:cNvSpPr/>
          <p:nvPr/>
        </p:nvSpPr>
        <p:spPr>
          <a:xfrm>
            <a:off x="10515600" y="5486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§17.11.2.2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신규 기능 — 긴급 보강 설계  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 파손·오시공 시 Hilti 화학앵커 대체 예비검토 자동 생성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4416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파손/오시공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 선택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48840" y="171907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496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31720" y="128016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134416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1828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인접 분산(2배수)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동일 위치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0" y="171907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496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97680" y="128016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34416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Hilti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1828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HY200-R/RE500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/HST3 선택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80760" y="171907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496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128016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ED7D31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34416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강재·Bond·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Breakout 자동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46720" y="171907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496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0" y="128016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ED7D3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34416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1828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절차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생성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012680" y="171907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496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195560" y="128016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1F3864"/>
          </a:solidFill>
          <a:ln/>
        </p:spPr>
      </p:sp>
      <p:sp>
        <p:nvSpPr>
          <p:cNvPr id="28" name="Text 26"/>
          <p:cNvSpPr/>
          <p:nvPr/>
        </p:nvSpPr>
        <p:spPr>
          <a:xfrm>
            <a:off x="10195560" y="134416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95560" y="1828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긴급보강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검토서 PDF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Hilti 제품 (4종)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2990088"/>
            <a:ext cx="11548872" cy="73152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8152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HIT-HY 200-R V3 + HAS-U 8.8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3355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에폭시. 경화 1h(20°C). 긴급보강 1순위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515600" y="3191256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06064"/>
          </a:solidFill>
          <a:ln/>
        </p:spPr>
      </p:sp>
      <p:sp>
        <p:nvSpPr>
          <p:cNvPr id="35" name="Text 33"/>
          <p:cNvSpPr/>
          <p:nvPr/>
        </p:nvSpPr>
        <p:spPr>
          <a:xfrm>
            <a:off x="10515600" y="31912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τcr=7.0 MPa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813048"/>
            <a:ext cx="11548872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0448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HIT-RE 500 V4 + HAS-U 8.8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178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고내력 에폭시. 대구경·심매입 적합. 경화 12h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515600" y="4014216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06064"/>
          </a:solidFill>
          <a:ln/>
        </p:spPr>
      </p:sp>
      <p:sp>
        <p:nvSpPr>
          <p:cNvPr id="40" name="Text 38"/>
          <p:cNvSpPr/>
          <p:nvPr/>
        </p:nvSpPr>
        <p:spPr>
          <a:xfrm>
            <a:off x="10515600" y="40142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τcr=8.0 MPa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636008"/>
            <a:ext cx="11548872" cy="73152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2744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HIT-HY 200-R + 이형철근 SD400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50017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 케미컬 정착. 페데스탈 측면 보강근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515600" y="4837176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06064"/>
          </a:solidFill>
          <a:ln/>
        </p:spPr>
      </p:sp>
      <p:sp>
        <p:nvSpPr>
          <p:cNvPr id="45" name="Text 43"/>
          <p:cNvSpPr/>
          <p:nvPr/>
        </p:nvSpPr>
        <p:spPr>
          <a:xfrm>
            <a:off x="10515600" y="4837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τcr=6.5 MPa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5458968"/>
            <a:ext cx="11548872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55040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HST3 웨지앵커 (기계식)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5824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재하. 균열콘크리트 인증. 소구경 한정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515600" y="5660136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06064"/>
          </a:solidFill>
          <a:ln/>
        </p:spPr>
      </p:sp>
      <p:sp>
        <p:nvSpPr>
          <p:cNvPr id="50" name="Text 48"/>
          <p:cNvSpPr/>
          <p:nvPr/>
        </p:nvSpPr>
        <p:spPr>
          <a:xfrm>
            <a:off x="10515600" y="56601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재하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신규 기능 — N.G 개선 제안 엔진  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계산엔진(cmp/cmpOct)을 재실행해 검증된 단일 변수 대안 자동 제시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원리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9344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09344"/>
            <a:ext cx="2743200" cy="2560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" y="160934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doCalc() 실행 후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updateSuggestBadge() 호출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3192" y="1892808"/>
            <a:ext cx="261518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N.G 항목 실시간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색상 경고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63240" y="214884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496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82696" y="1609344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82696" y="1609344"/>
            <a:ext cx="2743200" cy="25603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160934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tryFieldValue() /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sweepField() 탐색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55848" y="1892808"/>
            <a:ext cx="261518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변수 스윕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실제 엔진 호출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25896" y="214884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496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5352" y="1609344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1609344"/>
            <a:ext cx="2743200" cy="2560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6318504" y="160934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sweepLp() /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sweepD()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18504" y="1892808"/>
            <a:ext cx="261518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페데스탈 동시 확대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(Lpx·Lpy / D)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988552" y="214884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496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208008" y="1609344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8008" y="1609344"/>
            <a:ext cx="2743200" cy="25603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160934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대안 목록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표시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281160" y="1892808"/>
            <a:ext cx="261518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 근거 포함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확인 가능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유형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429000"/>
            <a:ext cx="115488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58444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5844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인장 N.G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37360" y="352044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hef 증가(+25~+400mm) · 페데스탈 확대 · da 상향 · Nnr 입력 안내 · hef′ 수정 해제 안내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078224"/>
            <a:ext cx="115488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23367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D7D3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2336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전단 N.G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737360" y="4169664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페데스탈 확대(ca1′↑) · 전단키 §17.11 전환 안내 · 마찰 반영 · Vnr 입력 안내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727448"/>
            <a:ext cx="115488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882896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E75B6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8828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전단키 N.G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737360" y="4818888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bsl 확대 · hsl 증가 · 최소 4EA 앵커 확보 안내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5376672"/>
            <a:ext cx="115488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55321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06064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55321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 N.G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737360" y="546811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hef·페데스탈 동시 탐색으로 IR≤1.2 확보 최솟값 제시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6025896"/>
            <a:ext cx="115488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6181344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F6B36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61813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과다설계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737360" y="6117336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NRatio&lt;0.35·VRatio&lt;0.35 조건 시 hef 축소 여지 안내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신규 기능 — 계산서 자동 추출 (베타)  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PEDAS 계산서 PDF / Excel에서 설계 입력값 후보를 자동 파싱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2743200" cy="2560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29844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텍스트 추출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1581912"/>
            <a:ext cx="2615184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pdf.js 3.11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레이어 파싱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이미지 불가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82696" y="129844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82696" y="1298448"/>
            <a:ext cx="2743200" cy="25603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29844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Excel 파싱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55848" y="1581912"/>
            <a:ext cx="2615184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SheetJS 활용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라벨=값 패턴 탐색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안정성 우수 (권장)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45352" y="129844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1298448"/>
            <a:ext cx="2743200" cy="2560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6318504" y="129844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 패턴 인식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18504" y="1581912"/>
            <a:ext cx="2615184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AxBxC PED → Lpx/Lpy/Hp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N-Mda → 볼트 지름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BCD/D/Ha 개별 패턴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08008" y="129844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08008" y="1298448"/>
            <a:ext cx="2743200" cy="25603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29844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표시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281160" y="1581912"/>
            <a:ext cx="2615184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HIGH/확인필요 2단계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체크박스 개별 선택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1클릭 입력 반영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32735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추출 대상 항목 (15종)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84448"/>
            <a:ext cx="11548872" cy="621792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749040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2E5496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749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볼트 제원·재질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60320" y="367588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 · hef · futa · fya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09760" y="37307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 / MPa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297680"/>
            <a:ext cx="1154887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462272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2E5496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462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페데스탈·콘크리트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60320" y="438912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Lpx · Lpy · Hp · D · Ha · f'c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09760" y="44439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 / MPa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5010912"/>
            <a:ext cx="11548872" cy="621792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5175504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2E5496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51755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보강철근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60320" y="51023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fy · Ntot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509760" y="515721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MPa / EA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5724144"/>
            <a:ext cx="1154887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5888736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2E5496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58887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하중 입력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5815584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· H · Hx · Hy · M · Mx · My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509760" y="5870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 / kN·m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6464808"/>
            <a:ext cx="11548872" cy="256032"/>
          </a:xfrm>
          <a:prstGeom prst="roundRect">
            <a:avLst>
              <a:gd name="adj" fmla="val 17857"/>
            </a:avLst>
          </a:prstGeom>
          <a:solidFill>
            <a:srgbClr val="FFF3E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464808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3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nx/ny·앵커 간격·앵커 삭제 패턴은 자동추출 대상 아님 — 도면 확인 후 직접 입력 필요. 모든 항목은 사람이 확인 후 반영.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Rectangular v4.52 — Octagonal 3기능 이식 완료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Octagonal v3.4의 긴급보강·개선제안·자동추출을 사각 페데스탈 버전에 전면 적용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적응 포인트 (Octagonal → Rectangular)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11548872" cy="621792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(원형 폭)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175564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75564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iLpx + iLpy (두 값 분리)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175564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sweepLp()로 양방향 동시 탐색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1154887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505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rfIdx (배열 인덱스)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63240" y="2450592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4505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rfKey = "ix_iy" 형식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245059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ISO.draw 앵커 루프에서 key 비교 하이라이트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054096"/>
            <a:ext cx="11548872" cy="621792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4553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sweepD()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63240" y="314553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31455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sweepLp()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0" y="314553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Lpx·Lpy 동시 확대 — 정사각 가정 없음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749040"/>
            <a:ext cx="1154887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iBCD/iNbolt 추출 패턴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63240" y="384048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38404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384048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nx/ny/간격 도면 확인 직접입력 명시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443984"/>
            <a:ext cx="11548872" cy="621792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3542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allOk 판정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63240" y="453542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74720" y="453542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_slOk(R) 전단키 포함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45354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doCalc()에서 updateSuggestBadge(R) 자동 호출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5230368"/>
            <a:ext cx="11548872" cy="1371600"/>
          </a:xfrm>
          <a:prstGeom prst="roundRect">
            <a:avLst>
              <a:gd name="adj" fmla="val 5333"/>
            </a:avLst>
          </a:prstGeom>
          <a:solidFill>
            <a:srgbClr val="EAFAF1"/>
          </a:solidFill>
          <a:ln w="15240">
            <a:solidFill>
              <a:srgbClr val="1F6B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 이식 완료 결과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5669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크기: 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834640" y="5669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166,607 bytes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5961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 문법 검사: 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834640" y="59618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SYNTAX OK (node --check)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62544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핸들러 누락: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834640" y="62544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0개 (40개 전원 정의 확인)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83680" y="5669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함수: 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869680" y="5669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13개 전원 OK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0" y="5961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jsdom 런타임: 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869680" y="59618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cmp()/rfCalc()/sweepLp() 정상 실행 확인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20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검증 결과 요약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검증 — 문법 검사 → 런타임 테스트 → 수치 재현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3703320" cy="5102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370332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984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node --check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문법 검사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7099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54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993392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JavaScript 구문 오류 전수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검사. 핸들러·함수 참조 교차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검증(Python 교차검증 포함)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200400"/>
            <a:ext cx="3520440" cy="18288"/>
          </a:xfrm>
          <a:prstGeom prst="rect">
            <a:avLst/>
          </a:prstGeom>
          <a:solidFill>
            <a:srgbClr val="BDD0E9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33101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3602736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SYNTAX OK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핸들러 누락 0개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13개 전원 OK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34440" y="50292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F6B36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50292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53949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Oct v3.4 + Rect v4.52 양 파일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70248" y="1298448"/>
            <a:ext cx="3703320" cy="5102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0248" y="1298448"/>
            <a:ext cx="370332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4361688" y="12984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jsdom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런타임 테스트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79976" y="17099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54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79976" y="1993392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Canvas/ResizeObserver/fetch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스텁 후 DOMContentLoaded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doCalc 호출 검증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61688" y="3200400"/>
            <a:ext cx="3520440" cy="18288"/>
          </a:xfrm>
          <a:prstGeom prst="rect">
            <a:avLst/>
          </a:prstGeom>
          <a:solidFill>
            <a:srgbClr val="BDD0E9"/>
          </a:solidFill>
          <a:ln/>
        </p:spPr>
      </p:sp>
      <p:sp>
        <p:nvSpPr>
          <p:cNvPr id="24" name="Text 22"/>
          <p:cNvSpPr/>
          <p:nvPr/>
        </p:nvSpPr>
        <p:spPr>
          <a:xfrm>
            <a:off x="4379976" y="33101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79976" y="3602736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cmpOct/cmp 실행 OK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rfCalc/sweepFld 정상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updateSuggestBadge OK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84648" y="50292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F6B36"/>
          </a:solidFill>
          <a:ln/>
        </p:spPr>
      </p:sp>
      <p:sp>
        <p:nvSpPr>
          <p:cNvPr id="27" name="Text 25"/>
          <p:cNvSpPr/>
          <p:nvPr/>
        </p:nvSpPr>
        <p:spPr>
          <a:xfrm>
            <a:off x="5184648" y="50292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통과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61688" y="53949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Chrome 없이 Node.js 환경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220456" y="1298448"/>
            <a:ext cx="3703320" cy="5102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0456" y="1298448"/>
            <a:ext cx="370332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1" name="Text 29"/>
          <p:cNvSpPr/>
          <p:nvPr/>
        </p:nvSpPr>
        <p:spPr>
          <a:xfrm>
            <a:off x="8311896" y="12984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TC2C 수치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검증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30184" y="17099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54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30184" y="1993392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SHAHEEN TC2C 문서 값과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 계산기 결과 직접 비교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(ANc, Vb, N1, c 항목)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11896" y="3200400"/>
            <a:ext cx="3520440" cy="18288"/>
          </a:xfrm>
          <a:prstGeom prst="rect">
            <a:avLst/>
          </a:prstGeom>
          <a:solidFill>
            <a:srgbClr val="BDD0E9"/>
          </a:solidFill>
          <a:ln/>
        </p:spPr>
      </p:sp>
      <p:sp>
        <p:nvSpPr>
          <p:cNvPr id="35" name="Text 33"/>
          <p:cNvSpPr/>
          <p:nvPr/>
        </p:nvSpPr>
        <p:spPr>
          <a:xfrm>
            <a:off x="8330184" y="33101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30184" y="3602736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ANc=5,571,545 mm² 일치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Vb=192.71 kN 일치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c=+291.13 mm 일치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134856" y="502920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F6B36"/>
          </a:solidFill>
          <a:ln/>
        </p:spPr>
      </p:sp>
      <p:sp>
        <p:nvSpPr>
          <p:cNvPr id="38" name="Text 36"/>
          <p:cNvSpPr/>
          <p:nvPr/>
        </p:nvSpPr>
        <p:spPr>
          <a:xfrm>
            <a:off x="9134856" y="50292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통과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11896" y="53949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4자리 유효숫자 기준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전체 현황 — 기능 매트릭스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Octagonal v3.4  ·  Rectangular v4.52 기능 대비표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16736"/>
            <a:ext cx="841248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533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ACI 318-19 Ch.17 인장 (Steel/Breakout/Pullout/Bond/Blowout)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778240" y="1316736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135331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424160" y="1316736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0" y="135331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664208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007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ACI 318-19 Ch.17 전단 (Steel/Breakout/Pryout)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778240" y="1664208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17007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424160" y="1664208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0" y="17007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011680"/>
            <a:ext cx="841248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04825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 하중 §17.8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778240" y="2011680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204825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424160" y="2011680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0" y="204825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359152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957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전단키 §17.11 (Shear Lug)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778240" y="2359152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23957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424160" y="2359152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0" y="23957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2706624"/>
            <a:ext cx="841248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743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보강철근 Nnr/Vnr (§17.5.2.1)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78240" y="2706624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27432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424160" y="2706624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0" y="27432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3054096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0906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중립축 이분법 (탄성 단면 계수)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778240" y="3054096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0" y="30906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424160" y="3054096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24160" y="30906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" y="3401568"/>
            <a:ext cx="841248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381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ISO 뷰 (드래그·줌·팬)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778240" y="3401568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0" y="343814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424160" y="3401568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24160" y="343814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0040" y="3749040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7856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2D 평면도 (Top View)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778240" y="3749040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78240" y="37856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424160" y="3749040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24160" y="37856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0040" y="4096512"/>
            <a:ext cx="841248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출력 (한글 폰트)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778240" y="4096512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78240" y="41330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424160" y="4096512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424160" y="41330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" y="4443984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4805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Excel 출력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778240" y="4443984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78240" y="44805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0424160" y="4443984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424160" y="44805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20040" y="4791456"/>
            <a:ext cx="841248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저장/불러오기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778240" y="4791456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78240" y="482803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0424160" y="4791456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424160" y="482803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320040" y="5138928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51755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긴급 보강 설계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778240" y="5138928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78240" y="517550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0424160" y="5138928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424160" y="517550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320040" y="5486400"/>
            <a:ext cx="841248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55229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N.G 개선 제안 엔진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778240" y="5486400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78240" y="55229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10424160" y="5486400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424160" y="55229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20040" y="5833872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" y="5870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계산서 자동 추출 (베타)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778240" y="5833872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778240" y="58704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10424160" y="5833872"/>
            <a:ext cx="164592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424160" y="58704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20040" y="6181344"/>
            <a:ext cx="8412480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62179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전단키 3D 시각화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8778240" y="6181344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778240" y="62179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10424160" y="6181344"/>
            <a:ext cx="1645920" cy="310896"/>
          </a:xfrm>
          <a:prstGeom prst="rect">
            <a:avLst/>
          </a:prstGeom>
          <a:solidFill>
            <a:srgbClr val="EAF3FB"/>
          </a:solidFill>
          <a:ln w="6350">
            <a:solidFill>
              <a:srgbClr val="BDD0E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424160" y="62179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8732520" y="1316736"/>
            <a:ext cx="1737360" cy="29260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8" name="Text 96"/>
          <p:cNvSpPr/>
          <p:nvPr/>
        </p:nvSpPr>
        <p:spPr>
          <a:xfrm>
            <a:off x="8732520" y="131673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Oct v3.4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10378440" y="1316736"/>
            <a:ext cx="1737360" cy="292608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00" name="Text 98"/>
          <p:cNvSpPr/>
          <p:nvPr/>
        </p:nvSpPr>
        <p:spPr>
          <a:xfrm>
            <a:off x="10378440" y="131673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Rect v4.52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2" name="Text 100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Octagonal v3.4 — 주요 화면 구성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팔각형 원형 페데스탈 · BCD 앵커 배치 · 전체 기능 통합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5577840" cy="2560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29844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좌측 입력 패널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1581912"/>
            <a:ext cx="544982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 타입 / N·BCD·θ₀ / da·hef / D·Ha / P·H·M / 전단키 / 보강철근 — 모든 입력 통합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17336" y="129844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17336" y="1298448"/>
            <a:ext cx="5577840" cy="25603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3" name="Text 11"/>
          <p:cNvSpPr/>
          <p:nvPr/>
        </p:nvSpPr>
        <p:spPr>
          <a:xfrm>
            <a:off x="6190488" y="129844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ISO 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90488" y="1581912"/>
            <a:ext cx="544982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원기둥 페데스탈 + 볼트 서클 + 보강철근 시각화. 드래그:회전, 스크롤:줌, 긴급보강 앵커 하이라이트(점선 링)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44368"/>
            <a:ext cx="5577840" cy="2560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294436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2D 평면도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3192" y="3227832"/>
            <a:ext cx="544982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팔각형 외형 + BCD 원 + 앵커 위치 라벨. 더블클릭:리셋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17336" y="294436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7336" y="2944368"/>
            <a:ext cx="5577840" cy="25603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294436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우측 결과 패널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90488" y="3227832"/>
            <a:ext cx="544982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하중분배 → 인장 → 전단 → 복합 순서. 지배 모드 강조(노란 행). ANc 환형 공식 ★수정 명시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59028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590288"/>
            <a:ext cx="5577840" cy="2560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459028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액션 바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3192" y="4873752"/>
            <a:ext cx="544982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💾저장 / 📋카탈로그 / 📄PDF / 📊Excel / 🔧긴급보강 / 💡개선제안 / 📄자동추출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17336" y="459028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17336" y="4590288"/>
            <a:ext cx="5577840" cy="25603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29" name="Text 27"/>
          <p:cNvSpPr/>
          <p:nvPr/>
        </p:nvSpPr>
        <p:spPr>
          <a:xfrm>
            <a:off x="6190488" y="459028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요약 상태바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90488" y="4873752"/>
            <a:ext cx="544982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인장/전단/복합 비율 3칸. O.K=초록, N.G=빨강. 전체 제목에 상태 실시간 표시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Rectangular v4.52 — 주요 화면 구성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 페데스탈 · nx×ny 격자 배치 · X/Y축 설계 Case · 전체 기능 통합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5577840" cy="25603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29844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 배치 — nx×ny 그리드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1581912"/>
            <a:ext cx="544982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 삭제 옵션(개별 체크박스), X/Y 방향 스팬 간격 입력, 활성 앵커 수 자동 표시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17336" y="129844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17336" y="1298448"/>
            <a:ext cx="5577840" cy="2560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6190488" y="129844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Case 선택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90488" y="1581912"/>
            <a:ext cx="544982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2(Y축: P,Hx,My) / Case 1(X축: P,Hy,Mx) 전환. 중립축 이분법(Linear) 또는 수동 입력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44368"/>
            <a:ext cx="5577840" cy="25603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294436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마찰·편심 입력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3192" y="3227832"/>
            <a:ext cx="544982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마찰계수 μ 선택(0.70/0.90/직접), 전단력 작용점(xV,yV)로 eV 산정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17336" y="294436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7336" y="2944368"/>
            <a:ext cx="5577840" cy="2560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294436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전단키 섹션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90488" y="3227832"/>
            <a:ext cx="544982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bsl·tsl·hsl 입력 → Aef,sl·ψbrg,sl 자동 산정, 최소 앵커수 §17.11.1.1.2 체크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59028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590288"/>
            <a:ext cx="5577840" cy="256032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459028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방향별 Vnr 입력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3192" y="4873752"/>
            <a:ext cx="544982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X방향 횡철근(dh,x/Vxtot/C3x/C4x) + Y방향 별도 입력. 설계 Case에 따라 해당 방향만 사용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17336" y="459028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17336" y="4590288"/>
            <a:ext cx="5577840" cy="25603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9" name="Text 27"/>
          <p:cNvSpPr/>
          <p:nvPr/>
        </p:nvSpPr>
        <p:spPr>
          <a:xfrm>
            <a:off x="6190488" y="4590288"/>
            <a:ext cx="5468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 ANc 계산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90488" y="4873752"/>
            <a:ext cx="544982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min(wx×wy, n·ANco) — Octagonal의 환형 ANc와 구분. Ca1x/Ca1y 별도 산정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ACI 준거성 주요 발견 — TC2C 그룹 Breakout 판정 오류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§17.6.2.1(b) 그룹 Concrete Breakout 수요값 적용 오류 — 설계 N.G 위험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11548872" cy="1005840"/>
          </a:xfrm>
          <a:prstGeom prst="roundRect">
            <a:avLst>
              <a:gd name="adj" fmla="val 6364"/>
            </a:avLst>
          </a:prstGeom>
          <a:solidFill>
            <a:srgbClr val="FFF0F0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식별된 오류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TC2C 계산서의 그룹 Concrete Breakout 검토 시, §17.6.2.1(b) 조건에 따라 그룹 수요값으로 "인장앵커의 합 ΣNua"를 사용해야 하나,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앵커의 최대 인장력 Nua,max(피크값)와 그룹 용량 φNcbg를 비교하여 O.K 처리 — 실제로는 N.G 조건.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4231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올바른 검토 vs 기존 TC2C 검토 비교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11548872" cy="548640"/>
          </a:xfrm>
          <a:prstGeom prst="rect">
            <a:avLst/>
          </a:prstGeom>
          <a:solidFill>
            <a:srgbClr val="1F3864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81635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51760" y="2816352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TC2C 방식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178040" y="281635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올바른 방식 (§17.6.2.1(b))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346704"/>
            <a:ext cx="11548872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198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수요값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3419856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Nua,max (최대 단일앵커)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8040" y="3419856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ΣNua (인장앵커 합)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950208"/>
            <a:ext cx="11548872" cy="54864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02336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용량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51760" y="402336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φNcbg (그룹 파괴 저항)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8040" y="402336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φNcbg (동일)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553712"/>
            <a:ext cx="11548872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2686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결과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4626864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Nua,max / φNcbg → O.K 오판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78040" y="4626864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ΣNua / φNcbg → N.G 가능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5157216"/>
            <a:ext cx="11548872" cy="54864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523036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위험성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51760" y="5230368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N.G를 O.K로 처리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78040" y="523036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과소 설계 위험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5943600"/>
            <a:ext cx="11548872" cy="658368"/>
          </a:xfrm>
          <a:prstGeom prst="roundRect">
            <a:avLst>
              <a:gd name="adj" fmla="val 8333"/>
            </a:avLst>
          </a:prstGeom>
          <a:solidFill>
            <a:srgbClr val="EAFAF1"/>
          </a:solidFill>
          <a:ln w="13970">
            <a:solidFill>
              <a:srgbClr val="1F6B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998464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 계산기 현황: Rectangular v4.52 및 Octagonal v3.4 모두 §17.6.2.1(b) 기준으로 ΣNua(그룹)를 φNcbg와 비교하도록 구현 완료.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6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추후 TC2C 계산서 재검토 시 해당 항목 우선 확인 권고.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향후 계획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DB 연계 및 부서 표준화 통합 방향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35024"/>
            <a:ext cx="115488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4475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447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 (1개월)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1426464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DB 연계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74520" y="1773936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PEDAS Foundation Master DB → 앵커볼트 계산기 자동 입력값 연계. JSON Export/Import로 프로젝트 DB 호환.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115488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6148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2E549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7614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중기 (3개월)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74520" y="274320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PD-ECV-0030 표준서 통합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74520" y="309067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앵커볼트 계산 업무 표준서(PD-ECV-0030)와 HTML 계산기 버전 정합성 유지. 설계 체크리스트 자동 생성.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68496"/>
            <a:ext cx="115488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7822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D7D31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0782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중기 (3개월)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4059936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TC2C 재검토 적용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74520" y="44074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보고에서 식별된 ACI 준거성 이슈(그룹 Breakout 수요값)를 TC2C 원본 계산서에 적용, 결과 보완.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5285232"/>
            <a:ext cx="115488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53949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06064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5394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(6개월)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74520" y="5376672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Hilti PROFIS 연계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74520" y="5724144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자동추출 베타 → PROFIS API 연동으로 실제 ESR 데이터 기반 검토값 직접 반영 검토.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자료 목록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보고서와 함께 제출되는 산출물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11548872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81912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2E549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819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7552" y="1417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AnchorBolt_Octagonal_v3.4.html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76479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팔각형 페데스탈 앵커볼트 계산기 완성본 — ANc/Vb/N1 버그 수정 + 전단키 + 긴급보강 + 개선제안 + 자동추출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115488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68880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2E549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68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87552" y="2304288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AnchorBolt_Rectangular_v4.52.html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65176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 페데스탈 앵커볼트 계산기 — Octagonal 3기능 이식 완료 (긴급보강·개선제안·자동추출)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099816"/>
            <a:ext cx="11548872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55848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2E549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3558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87552" y="3191256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Hilti 화학앵커 제품 추천 도구 (HTML)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538728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HIT-HY200R/RE500/HST3 5문항 자동 추천 + 3D 설치 시뮬레이션 + ACI Bond 개념도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986784"/>
            <a:ext cx="115488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242816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2E5496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2428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87552" y="4078224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PD-ECV-0030 앵커볼트 계산 업무표준서 (Word)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42569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표준 절차서 — ACI 318-19 적용 범위, 설계 흐름, 체크리스트 포함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873752"/>
            <a:ext cx="11548872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5129784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2E5496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51297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7552" y="4965192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앵커볼트 계산 업무 Check List (Excel)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531266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흐름 기준 점검표 — 인장/전단/복합/전단키/보강철근 단계별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5760720"/>
            <a:ext cx="115488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6016752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2E5496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60167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87552" y="58521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앵커볼트 계산시스템 개선 보고 PPT (본 문서)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87552" y="619963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배경·버그 수정·신규 기능·검증 결과·향후 계획 20슬라이드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 및 승인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88952" cy="1828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0515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보고서는 앵커볼트 계산 시스템의 개선 내용을 기술하며,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및 승인 후 부서 표준으로 채택합니다.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920240"/>
            <a:ext cx="24688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4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920240"/>
            <a:ext cx="2468880" cy="50292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 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2423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3794760"/>
            <a:ext cx="246888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2E54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직위·성명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4251960"/>
            <a:ext cx="246888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2E54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 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4709160"/>
            <a:ext cx="2468880" cy="411480"/>
          </a:xfrm>
          <a:prstGeom prst="rect">
            <a:avLst/>
          </a:prstGeom>
          <a:solidFill>
            <a:srgbClr val="F2F2F2"/>
          </a:solidFill>
          <a:ln w="10160">
            <a:solidFill>
              <a:srgbClr val="2E54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709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 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24688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4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920240"/>
            <a:ext cx="2468880" cy="50292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 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2423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794760"/>
            <a:ext cx="246888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2E54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직위·성명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251960"/>
            <a:ext cx="246888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2E54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 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4709160"/>
            <a:ext cx="2468880" cy="411480"/>
          </a:xfrm>
          <a:prstGeom prst="rect">
            <a:avLst/>
          </a:prstGeom>
          <a:solidFill>
            <a:srgbClr val="F2F2F2"/>
          </a:solidFill>
          <a:ln w="10160">
            <a:solidFill>
              <a:srgbClr val="2E54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709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 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0" y="1920240"/>
            <a:ext cx="24688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4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1920240"/>
            <a:ext cx="2468880" cy="50292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 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0" y="2423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0" y="3794760"/>
            <a:ext cx="246888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2E54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직위·성명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4251960"/>
            <a:ext cx="2468880" cy="457200"/>
          </a:xfrm>
          <a:prstGeom prst="rect">
            <a:avLst/>
          </a:prstGeom>
          <a:solidFill>
            <a:srgbClr val="F2F2F2"/>
          </a:solidFill>
          <a:ln w="10160">
            <a:solidFill>
              <a:srgbClr val="2E54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 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98080" y="4709160"/>
            <a:ext cx="2468880" cy="411480"/>
          </a:xfrm>
          <a:prstGeom prst="rect">
            <a:avLst/>
          </a:prstGeom>
          <a:solidFill>
            <a:srgbClr val="F2F2F2"/>
          </a:solidFill>
          <a:ln w="10160">
            <a:solidFill>
              <a:srgbClr val="2E54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4709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 속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5760720"/>
            <a:ext cx="11548872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DD0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5760720"/>
            <a:ext cx="11548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플랜트사업본부 지반구조설계팀  |  본 문서는 사외비입니다.  |  무단 배포 금지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개정 이력  Revision History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1097280" cy="493776"/>
          </a:xfrm>
          <a:prstGeom prst="rect">
            <a:avLst>
              <a:gd name="adj" fmla="val 9259"/>
            </a:avLst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1548872" cy="329184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앵커볼트 계산 시스템 개선 버전 이력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16736"/>
            <a:ext cx="914400" cy="914400"/>
          </a:xfrm>
          <a:prstGeom prst="rect">
            <a:avLst/>
          </a:prstGeom>
          <a:solidFill>
            <a:srgbClr val="1F3864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40817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34440" y="1316736"/>
            <a:ext cx="1188720" cy="914400"/>
          </a:xfrm>
          <a:prstGeom prst="rect">
            <a:avLst/>
          </a:prstGeom>
          <a:solidFill>
            <a:srgbClr val="1F3864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9304" y="140817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316736"/>
            <a:ext cx="1737360" cy="914400"/>
          </a:xfrm>
          <a:prstGeom prst="rect">
            <a:avLst/>
          </a:prstGeom>
          <a:solidFill>
            <a:srgbClr val="1F3864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8024" y="1408176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60520" y="1316736"/>
            <a:ext cx="6217920" cy="914400"/>
          </a:xfrm>
          <a:prstGeom prst="rect">
            <a:avLst/>
          </a:prstGeom>
          <a:solidFill>
            <a:srgbClr val="1F3864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15384" y="1408176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개정 내용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378440" y="1316736"/>
            <a:ext cx="1463040" cy="914400"/>
          </a:xfrm>
          <a:prstGeom prst="rect">
            <a:avLst/>
          </a:prstGeom>
          <a:solidFill>
            <a:srgbClr val="1F3864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33304" y="1408176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작성자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340864"/>
            <a:ext cx="91440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243230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234440" y="2340864"/>
            <a:ext cx="118872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9304" y="2432304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23160" y="2340864"/>
            <a:ext cx="173736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78024" y="2432304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Oct v2.1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Rect v4.51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60520" y="2340864"/>
            <a:ext cx="621792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15384" y="2432304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최초 발행 — ANc/Vb/N1 버그 수정 + 전단키 §17.11 신규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378440" y="2340864"/>
            <a:ext cx="146304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33304" y="2432304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지반구조설계팀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364992"/>
            <a:ext cx="9144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" y="345643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234440" y="3364992"/>
            <a:ext cx="11887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9304" y="345643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23160" y="3364992"/>
            <a:ext cx="173736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78024" y="345643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Oct v3.4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Rect v4.52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60520" y="3364992"/>
            <a:ext cx="62179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15384" y="3456432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긴급보강·N.G개선제안·계산서자동추출(베타) 3기능 이식 완료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ACI 그룹Breakout 수요값 오류 식별 및 시스템 적용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378440" y="3364992"/>
            <a:ext cx="14630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33304" y="345643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지반구조설계팀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389120"/>
            <a:ext cx="91440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" y="44805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234440" y="4389120"/>
            <a:ext cx="118872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9304" y="44805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423160" y="4389120"/>
            <a:ext cx="173736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78024" y="4480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v5.0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60520" y="4389120"/>
            <a:ext cx="621792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15384" y="448056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Master DB 연계 · TC2C 재검토 적용 · PROFIS API 연동 검토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378440" y="4389120"/>
            <a:ext cx="1463040" cy="914400"/>
          </a:xfrm>
          <a:prstGeom prst="rect">
            <a:avLst/>
          </a:prstGeom>
          <a:solidFill>
            <a:srgbClr val="F2F2F2"/>
          </a:solidFill>
          <a:ln w="10160">
            <a:solidFill>
              <a:srgbClr val="BDD0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33304" y="44805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지반구조설계팀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" y="66751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| 지반구조설계팀 | 앵커볼트 계산 시스템 개선 보고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B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ACI 318-19 기반 앵커볼트 계산 시스템  |  Octagonal v3.4 · Rectangular v4.52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DL E&amp;C  플랜트사업본부  지반구조설계팀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4960" y="5760720"/>
            <a:ext cx="1371600" cy="34747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사외비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0" y="6675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B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2026-07-20T00:13:35Z</dcterms:created>
  <dcterms:modified xsi:type="dcterms:W3CDTF">2026-07-20T00:13:35Z</dcterms:modified>
</cp:coreProperties>
</file>