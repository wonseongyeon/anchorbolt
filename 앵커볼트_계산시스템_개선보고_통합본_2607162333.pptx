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320040"/>
          </a:xfrm>
          <a:prstGeom prst="rect">
            <a:avLst/>
          </a:prstGeom>
          <a:solidFill>
            <a:srgbClr val="13294B"/>
          </a:solidFill>
          <a:ln/>
        </p:spPr>
      </p:sp>
      <p:sp>
        <p:nvSpPr>
          <p:cNvPr id="3" name="Shape 1"/>
          <p:cNvSpPr/>
          <p:nvPr/>
        </p:nvSpPr>
        <p:spPr>
          <a:xfrm>
            <a:off x="9921240" y="502920"/>
            <a:ext cx="1828800" cy="566928"/>
          </a:xfrm>
          <a:prstGeom prst="roundRect">
            <a:avLst>
              <a:gd name="adj" fmla="val 6452"/>
            </a:avLst>
          </a:prstGeom>
          <a:solidFill>
            <a:srgbClr val="FFFFFF"/>
          </a:solidFill>
          <a:ln w="13970">
            <a:solidFill>
              <a:srgbClr val="B23A3A"/>
            </a:solidFill>
            <a:prstDash val="solid"/>
          </a:ln>
        </p:spPr>
      </p:sp>
      <p:sp>
        <p:nvSpPr>
          <p:cNvPr id="4" name="Text 2"/>
          <p:cNvSpPr/>
          <p:nvPr/>
        </p:nvSpPr>
        <p:spPr>
          <a:xfrm>
            <a:off x="9921240" y="502920"/>
            <a:ext cx="1828800" cy="566928"/>
          </a:xfrm>
          <a:prstGeom prst="rect">
            <a:avLst/>
          </a:prstGeom>
          <a:noFill/>
          <a:ln/>
        </p:spPr>
        <p:txBody>
          <a:bodyPr wrap="square" rtlCol="0" anchor="ctr"/>
          <a:lstStyle/>
          <a:p>
            <a:pPr algn="ctr" indent="0" marL="0">
              <a:buNone/>
            </a:pPr>
            <a:r>
              <a:rPr lang="en-US" sz="850" b="1" i="1" dirty="0">
                <a:solidFill>
                  <a:srgbClr val="B23A3A"/>
                </a:solidFill>
                <a:latin typeface="맑은 고딕" pitchFamily="34" charset="0"/>
                <a:ea typeface="맑은 고딕" pitchFamily="34" charset="-122"/>
                <a:cs typeface="맑은 고딕" pitchFamily="34" charset="-120"/>
              </a:rPr>
              <a:t>사외비</a:t>
            </a:r>
            <a:endParaRPr lang="en-US" sz="850" dirty="0"/>
          </a:p>
          <a:p>
            <a:pPr algn="ctr" indent="0" marL="0">
              <a:buNone/>
            </a:pPr>
            <a:r>
              <a:rPr lang="en-US" sz="850" b="1" i="1" dirty="0">
                <a:solidFill>
                  <a:srgbClr val="B23A3A"/>
                </a:solidFill>
                <a:latin typeface="맑은 고딕" pitchFamily="34" charset="0"/>
                <a:ea typeface="맑은 고딕" pitchFamily="34" charset="-122"/>
                <a:cs typeface="맑은 고딕" pitchFamily="34" charset="-120"/>
              </a:rPr>
              <a:t>Internal Use Only</a:t>
            </a:r>
            <a:endParaRPr lang="en-US" sz="850" dirty="0"/>
          </a:p>
        </p:txBody>
      </p:sp>
      <p:sp>
        <p:nvSpPr>
          <p:cNvPr id="5" name="Text 3"/>
          <p:cNvSpPr/>
          <p:nvPr/>
        </p:nvSpPr>
        <p:spPr>
          <a:xfrm>
            <a:off x="502920" y="1783080"/>
            <a:ext cx="10515600" cy="640080"/>
          </a:xfrm>
          <a:prstGeom prst="rect">
            <a:avLst/>
          </a:prstGeom>
          <a:noFill/>
          <a:ln/>
        </p:spPr>
        <p:txBody>
          <a:bodyPr wrap="square" rtlCol="0" anchor="ctr"/>
          <a:lstStyle/>
          <a:p>
            <a:pPr indent="0" marL="0">
              <a:buNone/>
            </a:pPr>
            <a:r>
              <a:rPr lang="en-US" sz="3000" b="1" dirty="0">
                <a:solidFill>
                  <a:srgbClr val="13294B"/>
                </a:solidFill>
                <a:latin typeface="맑은 고딕" pitchFamily="34" charset="0"/>
                <a:ea typeface="맑은 고딕" pitchFamily="34" charset="-122"/>
                <a:cs typeface="맑은 고딕" pitchFamily="34" charset="-120"/>
              </a:rPr>
              <a:t>[개선보고] 콘크리트 앵커 계산 시스템</a:t>
            </a:r>
            <a:endParaRPr lang="en-US" sz="3000" dirty="0"/>
          </a:p>
        </p:txBody>
      </p:sp>
      <p:sp>
        <p:nvSpPr>
          <p:cNvPr id="6" name="Shape 4"/>
          <p:cNvSpPr/>
          <p:nvPr/>
        </p:nvSpPr>
        <p:spPr>
          <a:xfrm>
            <a:off x="502920" y="2514600"/>
            <a:ext cx="11155680" cy="0"/>
          </a:xfrm>
          <a:prstGeom prst="line">
            <a:avLst/>
          </a:prstGeom>
          <a:noFill/>
          <a:ln w="25400">
            <a:solidFill>
              <a:srgbClr val="13294B"/>
            </a:solidFill>
            <a:prstDash val="solid"/>
          </a:ln>
        </p:spPr>
      </p:sp>
      <p:sp>
        <p:nvSpPr>
          <p:cNvPr id="7" name="Text 5"/>
          <p:cNvSpPr/>
          <p:nvPr/>
        </p:nvSpPr>
        <p:spPr>
          <a:xfrm>
            <a:off x="502920" y="2697480"/>
            <a:ext cx="5486400" cy="320040"/>
          </a:xfrm>
          <a:prstGeom prst="rect">
            <a:avLst/>
          </a:prstGeom>
          <a:noFill/>
          <a:ln/>
        </p:spPr>
        <p:txBody>
          <a:bodyPr wrap="square" rtlCol="0" anchor="ctr"/>
          <a:lstStyle/>
          <a:p>
            <a:pPr indent="0" marL="0">
              <a:buNone/>
            </a:pPr>
            <a:r>
              <a:rPr lang="en-US" sz="1300" dirty="0">
                <a:solidFill>
                  <a:srgbClr val="1F2430"/>
                </a:solidFill>
                <a:latin typeface="맑은 고딕" pitchFamily="34" charset="0"/>
                <a:ea typeface="맑은 고딕" pitchFamily="34" charset="-122"/>
                <a:cs typeface="맑은 고딕" pitchFamily="34" charset="-120"/>
              </a:rPr>
              <a:t>플랜트사업본부 / 지반구조설계팀</a:t>
            </a:r>
            <a:endParaRPr lang="en-US" sz="1300" dirty="0"/>
          </a:p>
        </p:txBody>
      </p:sp>
      <p:sp>
        <p:nvSpPr>
          <p:cNvPr id="8" name="Text 6"/>
          <p:cNvSpPr/>
          <p:nvPr/>
        </p:nvSpPr>
        <p:spPr>
          <a:xfrm>
            <a:off x="502920" y="2999232"/>
            <a:ext cx="5486400" cy="27432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2026-07-16</a:t>
            </a:r>
            <a:endParaRPr lang="en-US" sz="1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3520440"/>
          <a:ext cx="3566160" cy="640080"/>
        </p:xfrm>
        <a:graphic>
          <a:graphicData uri="http://schemas.openxmlformats.org/drawingml/2006/table">
            <a:tbl>
              <a:tblPr/>
              <a:tblGrid>
                <a:gridCol w="891540"/>
                <a:gridCol w="891540"/>
                <a:gridCol w="891540"/>
                <a:gridCol w="891540"/>
              </a:tblGrid>
              <a:tr h="320040">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담당</a:t>
                      </a: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담당</a:t>
                      </a: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팀장</a:t>
                      </a: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담당임원</a:t>
                      </a: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13294B"/>
                    </a:solidFill>
                  </a:tcPr>
                </a:tc>
              </a:tr>
              <a:tr h="320040">
                <a:tc>
                  <a:txBody>
                    <a:bodyPr/>
                    <a:lstStyle/>
                    <a:p>
                      <a:pPr indent="0" marL="0">
                        <a:buNone/>
                      </a:pP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FFFFFF"/>
                    </a:solidFill>
                  </a:tcPr>
                </a:tc>
                <a:tc>
                  <a:txBody>
                    <a:bodyPr/>
                    <a:lstStyle/>
                    <a:p>
                      <a:pPr indent="0" marL="0">
                        <a:buNone/>
                      </a:pP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FFFFFF"/>
                    </a:solidFill>
                  </a:tcPr>
                </a:tc>
                <a:tc>
                  <a:txBody>
                    <a:bodyPr/>
                    <a:lstStyle/>
                    <a:p>
                      <a:pPr indent="0" marL="0">
                        <a:buNone/>
                      </a:pP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FFFFFF"/>
                    </a:solidFill>
                  </a:tcPr>
                </a:tc>
                <a:tc>
                  <a:txBody>
                    <a:bodyPr/>
                    <a:lstStyle/>
                    <a:p>
                      <a:pPr indent="0" marL="0">
                        <a:buNone/>
                      </a:pPr>
                      <a:endParaRPr lang="en-US" sz="900" dirty="0">
                        <a:latin typeface="맑은 고딕" charset="0"/>
                        <a:ea typeface="맑은 고딕" charset="0"/>
                        <a:cs typeface="맑은 고딕" charset="0"/>
                      </a:endParaRPr>
                    </a:p>
                  </a:txBody>
                  <a:tcPr marL="91440" marR="91440" marT="45720" marB="45720">
                    <a:lnL w="12700" cap="flat" cmpd="sng" algn="ctr">
                      <a:solidFill>
                        <a:srgbClr val="DCD9D2"/>
                      </a:solidFill>
                      <a:prstDash val="solid"/>
                      <a:round/>
                      <a:headEnd type="none" w="med" len="med"/>
                      <a:tailEnd type="none" w="med" len="med"/>
                    </a:lnL>
                    <a:lnR w="12700" cap="flat" cmpd="sng" algn="ctr">
                      <a:solidFill>
                        <a:srgbClr val="DCD9D2"/>
                      </a:solidFill>
                      <a:prstDash val="solid"/>
                      <a:round/>
                      <a:headEnd type="none" w="med" len="med"/>
                      <a:tailEnd type="none" w="med" len="med"/>
                    </a:lnR>
                    <a:lnT w="12700" cap="flat" cmpd="sng" algn="ctr">
                      <a:solidFill>
                        <a:srgbClr val="DCD9D2"/>
                      </a:solidFill>
                      <a:prstDash val="solid"/>
                      <a:round/>
                      <a:headEnd type="none" w="med" len="med"/>
                      <a:tailEnd type="none" w="med" len="med"/>
                    </a:lnT>
                    <a:lnB w="12700" cap="flat" cmpd="sng" algn="ctr">
                      <a:solidFill>
                        <a:srgbClr val="DCD9D2"/>
                      </a:solidFill>
                      <a:prstDash val="solid"/>
                      <a:round/>
                      <a:headEnd type="none" w="med" len="med"/>
                      <a:tailEnd type="none" w="med" len="med"/>
                    </a:lnB>
                    <a:solidFill>
                      <a:srgbClr val="FFFFFF"/>
                    </a:solidFill>
                  </a:tcPr>
                </a:tc>
              </a:tr>
            </a:tbl>
          </a:graphicData>
        </a:graphic>
      </p:graphicFrame>
      <p:sp>
        <p:nvSpPr>
          <p:cNvPr id="10" name="Text 7"/>
          <p:cNvSpPr/>
          <p:nvPr/>
        </p:nvSpPr>
        <p:spPr>
          <a:xfrm>
            <a:off x="502920" y="4297680"/>
            <a:ext cx="4572000" cy="274320"/>
          </a:xfrm>
          <a:prstGeom prst="rect">
            <a:avLst/>
          </a:prstGeom>
          <a:noFill/>
          <a:ln/>
        </p:spPr>
        <p:txBody>
          <a:bodyPr wrap="square" rtlCol="0" anchor="ct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지반구조설계팀장 : ___________________</a:t>
            </a:r>
            <a:endParaRPr lang="en-US" sz="1000" dirty="0"/>
          </a:p>
        </p:txBody>
      </p:sp>
      <p:sp>
        <p:nvSpPr>
          <p:cNvPr id="11" name="Shape 8"/>
          <p:cNvSpPr/>
          <p:nvPr/>
        </p:nvSpPr>
        <p:spPr>
          <a:xfrm>
            <a:off x="7360920" y="1783080"/>
            <a:ext cx="4343400" cy="3246120"/>
          </a:xfrm>
          <a:prstGeom prst="rect">
            <a:avLst/>
          </a:prstGeom>
          <a:solidFill>
            <a:srgbClr val="FFFFFF"/>
          </a:solidFill>
          <a:ln w="12700">
            <a:solidFill>
              <a:srgbClr val="DCD9D2"/>
            </a:solidFill>
            <a:prstDash val="solid"/>
          </a:ln>
        </p:spPr>
      </p:sp>
      <p:sp>
        <p:nvSpPr>
          <p:cNvPr id="12" name="Text 9"/>
          <p:cNvSpPr/>
          <p:nvPr/>
        </p:nvSpPr>
        <p:spPr>
          <a:xfrm>
            <a:off x="7589520" y="1938528"/>
            <a:ext cx="3840480" cy="292608"/>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 Contents 】</a:t>
            </a:r>
            <a:endParaRPr lang="en-US" sz="1250" dirty="0"/>
          </a:p>
        </p:txBody>
      </p:sp>
      <p:sp>
        <p:nvSpPr>
          <p:cNvPr id="13" name="Shape 10"/>
          <p:cNvSpPr/>
          <p:nvPr/>
        </p:nvSpPr>
        <p:spPr>
          <a:xfrm>
            <a:off x="7589520" y="2249424"/>
            <a:ext cx="3840480" cy="0"/>
          </a:xfrm>
          <a:prstGeom prst="line">
            <a:avLst/>
          </a:prstGeom>
          <a:noFill/>
          <a:ln w="12700">
            <a:solidFill>
              <a:srgbClr val="DCD9D2"/>
            </a:solidFill>
            <a:prstDash val="solid"/>
          </a:ln>
        </p:spPr>
      </p:sp>
      <p:sp>
        <p:nvSpPr>
          <p:cNvPr id="14" name="Text 11"/>
          <p:cNvSpPr/>
          <p:nvPr/>
        </p:nvSpPr>
        <p:spPr>
          <a:xfrm>
            <a:off x="7589520" y="2395728"/>
            <a:ext cx="3840480" cy="2514600"/>
          </a:xfrm>
          <a:prstGeom prst="rect">
            <a:avLst/>
          </a:prstGeom>
          <a:noFill/>
          <a:ln/>
        </p:spPr>
        <p:txBody>
          <a:bodyPr wrap="square" rtlCol="0" anchor="ctr"/>
          <a:lstStyle/>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왜 이 과제를 시작했는가</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무엇을 결론지었는가</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HTML v2.1 개선 내용</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정밀 비교 — 인장값 차이</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전단키(Shear Lug) 신규</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Rectangular 모듈 전수검증</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배치형태 통합설계 로드맵</a:t>
            </a:r>
            <a:endParaRPr lang="en-US" sz="1150" dirty="0"/>
          </a:p>
          <a:p>
            <a:pPr marL="177800" indent="-177800">
              <a:spcAft>
                <a:spcPts val="900"/>
              </a:spcAft>
              <a:buSzPct val="100000"/>
              <a:buChar char="●"/>
            </a:pPr>
            <a:r>
              <a:rPr lang="en-US" sz="1150" dirty="0">
                <a:solidFill>
                  <a:srgbClr val="1F2430"/>
                </a:solidFill>
                <a:latin typeface="맑은 고딕" pitchFamily="34" charset="0"/>
                <a:ea typeface="맑은 고딕" pitchFamily="34" charset="-122"/>
                <a:cs typeface="맑은 고딕" pitchFamily="34" charset="-120"/>
              </a:rPr>
              <a:t>다음 단계 — Hilti 통합</a:t>
            </a:r>
            <a:endParaRPr lang="en-US" sz="1150" dirty="0"/>
          </a:p>
        </p:txBody>
      </p:sp>
      <p:sp>
        <p:nvSpPr>
          <p:cNvPr id="15" name="Text 12"/>
          <p:cNvSpPr/>
          <p:nvPr/>
        </p:nvSpPr>
        <p:spPr>
          <a:xfrm>
            <a:off x="502920" y="6355080"/>
            <a:ext cx="1828800" cy="320040"/>
          </a:xfrm>
          <a:prstGeom prst="rect">
            <a:avLst/>
          </a:prstGeom>
          <a:noFill/>
          <a:ln/>
        </p:spPr>
        <p:txBody>
          <a:bodyPr wrap="square" rtlCol="0" anchor="ctr"/>
          <a:lstStyle/>
          <a:p>
            <a:pPr indent="0" marL="0">
              <a:buNone/>
            </a:pPr>
            <a:r>
              <a:rPr lang="en-US" sz="1200" b="1" dirty="0">
                <a:solidFill>
                  <a:srgbClr val="13294B"/>
                </a:solidFill>
                <a:latin typeface="맑은 고딕" pitchFamily="34" charset="0"/>
                <a:ea typeface="맑은 고딕" pitchFamily="34" charset="-122"/>
                <a:cs typeface="맑은 고딕" pitchFamily="34" charset="-120"/>
              </a:rPr>
              <a:t>DL E&amp;C</a:t>
            </a:r>
            <a:endParaRPr lang="en-US" sz="1200" dirty="0"/>
          </a:p>
        </p:txBody>
      </p:sp>
      <p:sp>
        <p:nvSpPr>
          <p:cNvPr id="16" name="Text 13"/>
          <p:cNvSpPr/>
          <p:nvPr/>
        </p:nvSpPr>
        <p:spPr>
          <a:xfrm>
            <a:off x="1234440" y="6428232"/>
            <a:ext cx="8229600" cy="274320"/>
          </a:xfrm>
          <a:prstGeom prst="rect">
            <a:avLst/>
          </a:prstGeom>
          <a:noFill/>
          <a:ln/>
        </p:spPr>
        <p:txBody>
          <a:bodyPr wrap="square" rtlCol="0" anchor="ctr"/>
          <a:lstStyle/>
          <a:p>
            <a:pPr indent="0" marL="0">
              <a:buNone/>
            </a:pPr>
            <a:r>
              <a:rPr lang="en-US" sz="850" dirty="0">
                <a:solidFill>
                  <a:srgbClr val="B23A3A"/>
                </a:solidFill>
                <a:latin typeface="맑은 고딕" pitchFamily="34" charset="0"/>
                <a:ea typeface="맑은 고딕" pitchFamily="34" charset="-122"/>
                <a:cs typeface="맑은 고딕" pitchFamily="34" charset="-120"/>
              </a:rPr>
              <a:t>이 정보(문서)는 DL이앤씨의 자산으로서, 허가 없는 사외반출을 금지합니다.</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02920" y="502920"/>
            <a:ext cx="9144000" cy="292608"/>
          </a:xfrm>
          <a:prstGeom prst="rect">
            <a:avLst/>
          </a:prstGeom>
          <a:noFill/>
          <a:ln/>
        </p:spPr>
        <p:txBody>
          <a:bodyPr wrap="square" rtlCol="0" anchor="ctr"/>
          <a:lstStyle/>
          <a:p>
            <a:pPr indent="0" marL="0">
              <a:buNone/>
            </a:pPr>
            <a:r>
              <a:rPr lang="en-US" sz="1200" b="1" spc="100" kern="0" dirty="0">
                <a:solidFill>
                  <a:srgbClr val="C9A227"/>
                </a:solidFill>
                <a:latin typeface="맑은 고딕" pitchFamily="34" charset="0"/>
                <a:ea typeface="맑은 고딕" pitchFamily="34" charset="-122"/>
                <a:cs typeface="맑은 고딕" pitchFamily="34" charset="-120"/>
              </a:rPr>
              <a:t>BEFORE WE STARTED THIS CHALLENGE</a:t>
            </a:r>
            <a:endParaRPr lang="en-US" sz="1200" dirty="0"/>
          </a:p>
        </p:txBody>
      </p:sp>
      <p:sp>
        <p:nvSpPr>
          <p:cNvPr id="3" name="Text 1"/>
          <p:cNvSpPr/>
          <p:nvPr/>
        </p:nvSpPr>
        <p:spPr>
          <a:xfrm>
            <a:off x="502920" y="841248"/>
            <a:ext cx="10515600" cy="685800"/>
          </a:xfrm>
          <a:prstGeom prst="rect">
            <a:avLst/>
          </a:prstGeom>
          <a:noFill/>
          <a:ln/>
        </p:spPr>
        <p:txBody>
          <a:bodyPr wrap="square"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우리는 몰랐습니다.</a:t>
            </a:r>
            <a:endParaRPr lang="en-US" sz="3400" dirty="0"/>
          </a:p>
        </p:txBody>
      </p:sp>
      <p:sp>
        <p:nvSpPr>
          <p:cNvPr id="4" name="Text 2"/>
          <p:cNvSpPr/>
          <p:nvPr/>
        </p:nvSpPr>
        <p:spPr>
          <a:xfrm>
            <a:off x="502920" y="1481328"/>
            <a:ext cx="10789920" cy="457200"/>
          </a:xfrm>
          <a:prstGeom prst="rect">
            <a:avLst/>
          </a:prstGeom>
          <a:noFill/>
          <a:ln/>
        </p:spPr>
        <p:txBody>
          <a:bodyPr wrap="square" rtlCol="0" anchor="ctr"/>
          <a:lstStyle/>
          <a:p>
            <a:pPr indent="0" marL="0">
              <a:buNone/>
            </a:pPr>
            <a:r>
              <a:rPr lang="en-US" sz="1350" dirty="0">
                <a:solidFill>
                  <a:srgbClr val="C7D2E0"/>
                </a:solidFill>
                <a:latin typeface="맑은 고딕" pitchFamily="34" charset="0"/>
                <a:ea typeface="맑은 고딕" pitchFamily="34" charset="-122"/>
                <a:cs typeface="맑은 고딕" pitchFamily="34" charset="-120"/>
              </a:rPr>
              <a:t>기존 계산 도구가 통과시켜온 계산서들의 여유율이, 실제로는 그만큼 안전하지 않았을 수 있다는 것을요.</a:t>
            </a:r>
            <a:endParaRPr lang="en-US" sz="1350" dirty="0"/>
          </a:p>
        </p:txBody>
      </p:sp>
      <p:sp>
        <p:nvSpPr>
          <p:cNvPr id="5" name="Shape 3"/>
          <p:cNvSpPr/>
          <p:nvPr/>
        </p:nvSpPr>
        <p:spPr>
          <a:xfrm>
            <a:off x="502920" y="2148840"/>
            <a:ext cx="5440680" cy="2331720"/>
          </a:xfrm>
          <a:prstGeom prst="rect">
            <a:avLst/>
          </a:prstGeom>
          <a:solidFill>
            <a:srgbClr val="16223D"/>
          </a:solidFill>
          <a:ln w="15875">
            <a:solidFill>
              <a:srgbClr val="2C4468"/>
            </a:solidFill>
            <a:prstDash val="solid"/>
          </a:ln>
        </p:spPr>
      </p:sp>
      <p:sp>
        <p:nvSpPr>
          <p:cNvPr id="6" name="Shape 4"/>
          <p:cNvSpPr/>
          <p:nvPr/>
        </p:nvSpPr>
        <p:spPr>
          <a:xfrm>
            <a:off x="502920" y="2148840"/>
            <a:ext cx="73152" cy="2331720"/>
          </a:xfrm>
          <a:prstGeom prst="rect">
            <a:avLst/>
          </a:prstGeom>
          <a:solidFill>
            <a:srgbClr val="B23A3A"/>
          </a:solidFill>
          <a:ln/>
        </p:spPr>
      </p:sp>
      <p:sp>
        <p:nvSpPr>
          <p:cNvPr id="7" name="Text 5"/>
          <p:cNvSpPr/>
          <p:nvPr/>
        </p:nvSpPr>
        <p:spPr>
          <a:xfrm>
            <a:off x="822960" y="2331720"/>
            <a:ext cx="4892040" cy="292608"/>
          </a:xfrm>
          <a:prstGeom prst="rect">
            <a:avLst/>
          </a:prstGeom>
          <a:noFill/>
          <a:ln/>
        </p:spPr>
        <p:txBody>
          <a:bodyPr wrap="square" rtlCol="0" anchor="ctr"/>
          <a:lstStyle/>
          <a:p>
            <a:pPr indent="0" marL="0">
              <a:buNone/>
            </a:pPr>
            <a:r>
              <a:rPr lang="en-US" sz="1250" b="1" dirty="0">
                <a:solidFill>
                  <a:srgbClr val="9FB3CC"/>
                </a:solidFill>
                <a:latin typeface="맑은 고딕" pitchFamily="34" charset="0"/>
                <a:ea typeface="맑은 고딕" pitchFamily="34" charset="-122"/>
                <a:cs typeface="맑은 고딕" pitchFamily="34" charset="-120"/>
              </a:rPr>
              <a:t>인장 (ANc)</a:t>
            </a:r>
            <a:endParaRPr lang="en-US" sz="1250" dirty="0"/>
          </a:p>
        </p:txBody>
      </p:sp>
      <p:sp>
        <p:nvSpPr>
          <p:cNvPr id="8" name="Text 6"/>
          <p:cNvSpPr/>
          <p:nvPr/>
        </p:nvSpPr>
        <p:spPr>
          <a:xfrm>
            <a:off x="822960" y="2633472"/>
            <a:ext cx="4892040" cy="685800"/>
          </a:xfrm>
          <a:prstGeom prst="rect">
            <a:avLst/>
          </a:prstGeom>
          <a:noFill/>
          <a:ln/>
        </p:spPr>
        <p:txBody>
          <a:bodyPr wrap="square" rtlCol="0" anchor="ctr"/>
          <a:lstStyle/>
          <a:p>
            <a:pPr indent="0" marL="0">
              <a:buNone/>
            </a:pPr>
            <a:r>
              <a:rPr lang="en-US" sz="4000" b="1" dirty="0">
                <a:solidFill>
                  <a:srgbClr val="B23A3A"/>
                </a:solidFill>
                <a:latin typeface="맑은 고딕" pitchFamily="34" charset="0"/>
                <a:ea typeface="맑은 고딕" pitchFamily="34" charset="-122"/>
                <a:cs typeface="맑은 고딕" pitchFamily="34" charset="-120"/>
              </a:rPr>
              <a:t>최대 3.9배</a:t>
            </a:r>
            <a:endParaRPr lang="en-US" sz="4000" dirty="0"/>
          </a:p>
        </p:txBody>
      </p:sp>
      <p:sp>
        <p:nvSpPr>
          <p:cNvPr id="9" name="Text 7"/>
          <p:cNvSpPr/>
          <p:nvPr/>
        </p:nvSpPr>
        <p:spPr>
          <a:xfrm>
            <a:off x="822960" y="3291840"/>
            <a:ext cx="4892040" cy="320040"/>
          </a:xfrm>
          <a:prstGeom prst="rect">
            <a:avLst/>
          </a:prstGeom>
          <a:noFill/>
          <a:ln/>
        </p:spPr>
        <p:txBody>
          <a:bodyPr wrap="square"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과대산정</a:t>
            </a:r>
            <a:endParaRPr lang="en-US" sz="1400" dirty="0"/>
          </a:p>
        </p:txBody>
      </p:sp>
      <p:sp>
        <p:nvSpPr>
          <p:cNvPr id="10" name="Text 8"/>
          <p:cNvSpPr/>
          <p:nvPr/>
        </p:nvSpPr>
        <p:spPr>
          <a:xfrm>
            <a:off x="822960" y="3657600"/>
            <a:ext cx="4800600" cy="777240"/>
          </a:xfrm>
          <a:prstGeom prst="rect">
            <a:avLst/>
          </a:prstGeom>
          <a:noFill/>
          <a:ln/>
        </p:spPr>
        <p:txBody>
          <a:bodyPr wrap="square" rtlCol="0" anchor="ctr"/>
          <a:lstStyle/>
          <a:p>
            <a:pPr indent="0" marL="0">
              <a:lnSpc>
                <a:spcPct val="130000"/>
              </a:lnSpc>
              <a:buNone/>
            </a:pPr>
            <a:r>
              <a:rPr lang="en-US" sz="1050" dirty="0">
                <a:solidFill>
                  <a:srgbClr val="9FB3CC"/>
                </a:solidFill>
                <a:latin typeface="맑은 고딕" pitchFamily="34" charset="0"/>
                <a:ea typeface="맑은 고딕" pitchFamily="34" charset="-122"/>
                <a:cs typeface="맑은 고딕" pitchFamily="34" charset="-120"/>
              </a:rPr>
              <a:t>사각형 근사식이 실제 원형 환상면적보다 넓게 계산 — 콘크리트가 실제보다 훨씬 더 버텨줄 것처럼 보였음</a:t>
            </a:r>
            <a:endParaRPr lang="en-US" sz="1050" dirty="0"/>
          </a:p>
        </p:txBody>
      </p:sp>
      <p:sp>
        <p:nvSpPr>
          <p:cNvPr id="11" name="Shape 9"/>
          <p:cNvSpPr/>
          <p:nvPr/>
        </p:nvSpPr>
        <p:spPr>
          <a:xfrm>
            <a:off x="6217920" y="2148840"/>
            <a:ext cx="5440680" cy="2331720"/>
          </a:xfrm>
          <a:prstGeom prst="rect">
            <a:avLst/>
          </a:prstGeom>
          <a:solidFill>
            <a:srgbClr val="16223D"/>
          </a:solidFill>
          <a:ln w="15875">
            <a:solidFill>
              <a:srgbClr val="2C4468"/>
            </a:solidFill>
            <a:prstDash val="solid"/>
          </a:ln>
        </p:spPr>
      </p:sp>
      <p:sp>
        <p:nvSpPr>
          <p:cNvPr id="12" name="Shape 10"/>
          <p:cNvSpPr/>
          <p:nvPr/>
        </p:nvSpPr>
        <p:spPr>
          <a:xfrm>
            <a:off x="6217920" y="2148840"/>
            <a:ext cx="73152" cy="2331720"/>
          </a:xfrm>
          <a:prstGeom prst="rect">
            <a:avLst/>
          </a:prstGeom>
          <a:solidFill>
            <a:srgbClr val="B23A3A"/>
          </a:solidFill>
          <a:ln/>
        </p:spPr>
      </p:sp>
      <p:sp>
        <p:nvSpPr>
          <p:cNvPr id="13" name="Text 11"/>
          <p:cNvSpPr/>
          <p:nvPr/>
        </p:nvSpPr>
        <p:spPr>
          <a:xfrm>
            <a:off x="6537960" y="2331720"/>
            <a:ext cx="4892040" cy="292608"/>
          </a:xfrm>
          <a:prstGeom prst="rect">
            <a:avLst/>
          </a:prstGeom>
          <a:noFill/>
          <a:ln/>
        </p:spPr>
        <p:txBody>
          <a:bodyPr wrap="square" rtlCol="0" anchor="ctr"/>
          <a:lstStyle/>
          <a:p>
            <a:pPr indent="0" marL="0">
              <a:buNone/>
            </a:pPr>
            <a:r>
              <a:rPr lang="en-US" sz="1250" b="1" dirty="0">
                <a:solidFill>
                  <a:srgbClr val="9FB3CC"/>
                </a:solidFill>
                <a:latin typeface="맑은 고딕" pitchFamily="34" charset="0"/>
                <a:ea typeface="맑은 고딕" pitchFamily="34" charset="-122"/>
                <a:cs typeface="맑은 고딕" pitchFamily="34" charset="-120"/>
              </a:rPr>
              <a:t>전단 (Vb)</a:t>
            </a:r>
            <a:endParaRPr lang="en-US" sz="1250" dirty="0"/>
          </a:p>
        </p:txBody>
      </p:sp>
      <p:sp>
        <p:nvSpPr>
          <p:cNvPr id="14" name="Text 12"/>
          <p:cNvSpPr/>
          <p:nvPr/>
        </p:nvSpPr>
        <p:spPr>
          <a:xfrm>
            <a:off x="6537960" y="2633472"/>
            <a:ext cx="4892040" cy="685800"/>
          </a:xfrm>
          <a:prstGeom prst="rect">
            <a:avLst/>
          </a:prstGeom>
          <a:noFill/>
          <a:ln/>
        </p:spPr>
        <p:txBody>
          <a:bodyPr wrap="square" rtlCol="0" anchor="ctr"/>
          <a:lstStyle/>
          <a:p>
            <a:pPr indent="0" marL="0">
              <a:buNone/>
            </a:pPr>
            <a:r>
              <a:rPr lang="en-US" sz="4000" b="1" dirty="0">
                <a:solidFill>
                  <a:srgbClr val="B23A3A"/>
                </a:solidFill>
                <a:latin typeface="맑은 고딕" pitchFamily="34" charset="0"/>
                <a:ea typeface="맑은 고딕" pitchFamily="34" charset="-122"/>
                <a:cs typeface="맑은 고딕" pitchFamily="34" charset="-120"/>
              </a:rPr>
              <a:t>최대 20배</a:t>
            </a:r>
            <a:endParaRPr lang="en-US" sz="4000" dirty="0"/>
          </a:p>
        </p:txBody>
      </p:sp>
      <p:sp>
        <p:nvSpPr>
          <p:cNvPr id="15" name="Text 13"/>
          <p:cNvSpPr/>
          <p:nvPr/>
        </p:nvSpPr>
        <p:spPr>
          <a:xfrm>
            <a:off x="6537960" y="3291840"/>
            <a:ext cx="4892040" cy="320040"/>
          </a:xfrm>
          <a:prstGeom prst="rect">
            <a:avLst/>
          </a:prstGeom>
          <a:noFill/>
          <a:ln/>
        </p:spPr>
        <p:txBody>
          <a:bodyPr wrap="square"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과대평가</a:t>
            </a:r>
            <a:endParaRPr lang="en-US" sz="1400" dirty="0"/>
          </a:p>
        </p:txBody>
      </p:sp>
      <p:sp>
        <p:nvSpPr>
          <p:cNvPr id="16" name="Text 14"/>
          <p:cNvSpPr/>
          <p:nvPr/>
        </p:nvSpPr>
        <p:spPr>
          <a:xfrm>
            <a:off x="6537960" y="3657600"/>
            <a:ext cx="4800600" cy="777240"/>
          </a:xfrm>
          <a:prstGeom prst="rect">
            <a:avLst/>
          </a:prstGeom>
          <a:noFill/>
          <a:ln/>
        </p:spPr>
        <p:txBody>
          <a:bodyPr wrap="square" rtlCol="0" anchor="ctr"/>
          <a:lstStyle/>
          <a:p>
            <a:pPr indent="0" marL="0">
              <a:lnSpc>
                <a:spcPct val="130000"/>
              </a:lnSpc>
              <a:buNone/>
            </a:pPr>
            <a:r>
              <a:rPr lang="en-US" sz="1050" dirty="0">
                <a:solidFill>
                  <a:srgbClr val="9FB3CC"/>
                </a:solidFill>
                <a:latin typeface="맑은 고딕" pitchFamily="34" charset="0"/>
                <a:ea typeface="맑은 고딕" pitchFamily="34" charset="-122"/>
                <a:cs typeface="맑은 고딕" pitchFamily="34" charset="-120"/>
              </a:rPr>
              <a:t>팔각형 배치 전용 ca1′이 반영되지 않아, 전단 내력이 실제보다 20배까지 부풀려져 있었음</a:t>
            </a:r>
            <a:endParaRPr lang="en-US" sz="1050" dirty="0"/>
          </a:p>
        </p:txBody>
      </p:sp>
      <p:sp>
        <p:nvSpPr>
          <p:cNvPr id="17" name="Shape 15"/>
          <p:cNvSpPr/>
          <p:nvPr/>
        </p:nvSpPr>
        <p:spPr>
          <a:xfrm>
            <a:off x="502920" y="4709160"/>
            <a:ext cx="11201400" cy="1417320"/>
          </a:xfrm>
          <a:prstGeom prst="rect">
            <a:avLst/>
          </a:prstGeom>
          <a:solidFill>
            <a:srgbClr val="0D1729"/>
          </a:solidFill>
          <a:ln w="15875">
            <a:solidFill>
              <a:srgbClr val="C9A227"/>
            </a:solidFill>
            <a:prstDash val="solid"/>
          </a:ln>
        </p:spPr>
      </p:sp>
      <p:sp>
        <p:nvSpPr>
          <p:cNvPr id="18" name="Text 16"/>
          <p:cNvSpPr/>
          <p:nvPr/>
        </p:nvSpPr>
        <p:spPr>
          <a:xfrm>
            <a:off x="777240" y="4864608"/>
            <a:ext cx="10698480" cy="36576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우연히 발견한 게 아니라, 처음으로 “제대로” 검증했기 때문에 발견했습니다.</a:t>
            </a:r>
            <a:endParaRPr lang="en-US" sz="1500" dirty="0"/>
          </a:p>
        </p:txBody>
      </p:sp>
      <p:sp>
        <p:nvSpPr>
          <p:cNvPr id="19" name="Text 17"/>
          <p:cNvSpPr/>
          <p:nvPr/>
        </p:nvSpPr>
        <p:spPr>
          <a:xfrm>
            <a:off x="777240" y="5193792"/>
            <a:ext cx="10698480" cy="868680"/>
          </a:xfrm>
          <a:prstGeom prst="rect">
            <a:avLst/>
          </a:prstGeom>
          <a:noFill/>
          <a:ln/>
        </p:spPr>
        <p:txBody>
          <a:bodyPr wrap="square" rtlCol="0" anchor="ctr"/>
          <a:lstStyle/>
          <a:p>
            <a:pPr indent="0" marL="0">
              <a:lnSpc>
                <a:spcPct val="135000"/>
              </a:lnSpc>
              <a:buNone/>
            </a:pPr>
            <a:r>
              <a:rPr lang="en-US" sz="1150" dirty="0">
                <a:solidFill>
                  <a:srgbClr val="DCE9F6"/>
                </a:solidFill>
                <a:latin typeface="맑은 고딕" pitchFamily="34" charset="0"/>
                <a:ea typeface="맑은 고딕" pitchFamily="34" charset="-122"/>
                <a:cs typeface="맑은 고딕" pitchFamily="34" charset="-120"/>
              </a:rPr>
              <a:t>TC2C 실제 프로젝트 수치를 코드에 직접 대입해 자릿수 단위로 대조하는 정밀검증은, 이번이 처음이었습니다. 지금까지는 아무도 이 방식으로 검증할 시간을 낼 수 없었을 뿐입니다 — 이제는 한 번의 검증으로 전 프로젝트가 영구히 혜택을 받습니다.</a:t>
            </a:r>
            <a:endParaRPr lang="en-US" sz="1150" dirty="0"/>
          </a:p>
        </p:txBody>
      </p:sp>
      <p:sp>
        <p:nvSpPr>
          <p:cNvPr id="20" name="Text 18"/>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6E7EA0"/>
                </a:solidFill>
                <a:latin typeface="맑은 고딕" pitchFamily="34" charset="0"/>
                <a:ea typeface="맑은 고딕" pitchFamily="34" charset="-122"/>
                <a:cs typeface="맑은 고딕"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이 도전이 바꾼 것 — Before / After</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동일 검토 로직을 매번 새로 만들던 방식에서, 한 번 검증하고 영구히 재사용하는 방식으로</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38560" cy="914400"/>
        </p:xfrm>
        <a:graphic>
          <a:graphicData uri="http://schemas.openxmlformats.org/drawingml/2006/table">
            <a:tbl>
              <a:tblPr/>
              <a:tblGrid>
                <a:gridCol w="2651760"/>
                <a:gridCol w="3474720"/>
                <a:gridCol w="3474720"/>
                <a:gridCol w="1737360"/>
              </a:tblGrid>
              <a:tr h="365760">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구분</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Before (Excel 개별화)</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After (HTML 계산 시스템)</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임팩트</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r>
              <a:tr h="777240">
                <a:tc>
                  <a:txBody>
                    <a:bodyPr/>
                    <a:lstStyle/>
                    <a:p>
                      <a:pPr indent="0" marL="0">
                        <a:buNone/>
                      </a:pPr>
                      <a:r>
                        <a:rPr lang="en-US" sz="1000" b="1" dirty="0">
                          <a:solidFill>
                            <a:srgbClr val="13294B"/>
                          </a:solidFill>
                          <a:latin typeface="맑은 고딕" pitchFamily="34" charset="0"/>
                          <a:ea typeface="맑은 고딕" pitchFamily="34" charset="-122"/>
                          <a:cs typeface="맑은 고딕" pitchFamily="34" charset="-120"/>
                        </a:rPr>
                        <a:t>신규 앵커볼트 계산서 1건 작성</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indent="0" marL="0">
                        <a:buNone/>
                      </a:pPr>
                      <a:r>
                        <a:rPr lang="en-US" sz="930" dirty="0">
                          <a:solidFill>
                            <a:srgbClr val="5B6472"/>
                          </a:solidFill>
                          <a:latin typeface="맑은 고딕" pitchFamily="34" charset="0"/>
                          <a:ea typeface="맑은 고딕" pitchFamily="34" charset="-122"/>
                          <a:cs typeface="맑은 고딕" pitchFamily="34" charset="-120"/>
                        </a:rPr>
                        <a:t>Excel 개별 작성 + 수식 재검토</a:t>
                      </a:r>
                      <a:endParaRPr lang="en-US" sz="930" dirty="0">
                        <a:latin typeface="맑은 고딕" charset="0"/>
                        <a:ea typeface="맑은 고딕" charset="0"/>
                        <a:cs typeface="맑은 고딕" charset="0"/>
                      </a:endParaRPr>
                    </a:p>
                    <a:p>
                      <a:pPr indent="0" marL="0">
                        <a:buNone/>
                      </a:pPr>
                      <a:r>
                        <a:rPr lang="en-US" sz="930" dirty="0">
                          <a:solidFill>
                            <a:srgbClr val="5B6472"/>
                          </a:solidFill>
                          <a:latin typeface="맑은 고딕" pitchFamily="34" charset="0"/>
                          <a:ea typeface="맑은 고딕" pitchFamily="34" charset="-122"/>
                          <a:cs typeface="맑은 고딕" pitchFamily="34" charset="-120"/>
                        </a:rPr>
                        <a:t>(예시 기준, 실측 시 갱신 요망)</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indent="0" marL="0">
                        <a:buNone/>
                      </a:pPr>
                      <a:r>
                        <a:rPr lang="en-US" sz="930" dirty="0">
                          <a:solidFill>
                            <a:srgbClr val="1F2430"/>
                          </a:solidFill>
                          <a:latin typeface="맑은 고딕" pitchFamily="34" charset="0"/>
                          <a:ea typeface="맑은 고딕" pitchFamily="34" charset="-122"/>
                          <a:cs typeface="맑은 고딕" pitchFamily="34" charset="-120"/>
                        </a:rPr>
                        <a:t>HTML 입력 + 자동 산정·자동 산출물</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algn="ctr" indent="0" marL="0">
                        <a:buNone/>
                      </a:pPr>
                      <a:r>
                        <a:rPr lang="en-US" sz="1000" b="1" dirty="0">
                          <a:solidFill>
                            <a:srgbClr val="2E7D45"/>
                          </a:solidFill>
                          <a:latin typeface="맑은 고딕" pitchFamily="34" charset="0"/>
                          <a:ea typeface="맑은 고딕" pitchFamily="34" charset="-122"/>
                          <a:cs typeface="맑은 고딕" pitchFamily="34" charset="-120"/>
                        </a:rPr>
                        <a:t>약 70~80% 단축 (예시)</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r>
              <a:tr h="640080">
                <a:tc>
                  <a:txBody>
                    <a:bodyPr/>
                    <a:lstStyle/>
                    <a:p>
                      <a:pPr indent="0" marL="0">
                        <a:buNone/>
                      </a:pPr>
                      <a:r>
                        <a:rPr lang="en-US" sz="1000" b="1" dirty="0">
                          <a:solidFill>
                            <a:srgbClr val="13294B"/>
                          </a:solidFill>
                          <a:latin typeface="맑은 고딕" pitchFamily="34" charset="0"/>
                          <a:ea typeface="맑은 고딕" pitchFamily="34" charset="-122"/>
                          <a:cs typeface="맑은 고딕" pitchFamily="34" charset="-120"/>
                        </a:rPr>
                        <a:t>그룹앵커·편심 반영</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930" dirty="0">
                          <a:solidFill>
                            <a:srgbClr val="5B6472"/>
                          </a:solidFill>
                          <a:latin typeface="맑은 고딕" pitchFamily="34" charset="0"/>
                          <a:ea typeface="맑은 고딕" pitchFamily="34" charset="-122"/>
                          <a:cs typeface="맑은 고딕" pitchFamily="34" charset="-120"/>
                        </a:rPr>
                        <a:t>수작업 반복계산 또는 근사 생략</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930" dirty="0">
                          <a:solidFill>
                            <a:srgbClr val="1F2430"/>
                          </a:solidFill>
                          <a:latin typeface="맑은 고딕" pitchFamily="34" charset="0"/>
                          <a:ea typeface="맑은 고딕" pitchFamily="34" charset="-122"/>
                          <a:cs typeface="맑은 고딕" pitchFamily="34" charset="-120"/>
                        </a:rPr>
                        <a:t>중립축 반복계산 자동 수행</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45"/>
                          </a:solidFill>
                          <a:latin typeface="맑은 고딕" pitchFamily="34" charset="0"/>
                          <a:ea typeface="맑은 고딕" pitchFamily="34" charset="-122"/>
                          <a:cs typeface="맑은 고딕" pitchFamily="34" charset="-120"/>
                        </a:rPr>
                        <a:t>누락 리스크 제거</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13294B"/>
                          </a:solidFill>
                          <a:latin typeface="맑은 고딕" pitchFamily="34" charset="0"/>
                          <a:ea typeface="맑은 고딕" pitchFamily="34" charset="-122"/>
                          <a:cs typeface="맑은 고딕" pitchFamily="34" charset="-120"/>
                        </a:rPr>
                        <a:t>산출물(PDF/Excel) 생성</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indent="0" marL="0">
                        <a:buNone/>
                      </a:pPr>
                      <a:r>
                        <a:rPr lang="en-US" sz="930" dirty="0">
                          <a:solidFill>
                            <a:srgbClr val="5B6472"/>
                          </a:solidFill>
                          <a:latin typeface="맑은 고딕" pitchFamily="34" charset="0"/>
                          <a:ea typeface="맑은 고딕" pitchFamily="34" charset="-122"/>
                          <a:cs typeface="맑은 고딕" pitchFamily="34" charset="-120"/>
                        </a:rPr>
                        <a:t>매 건 수작업 편집</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indent="0" marL="0">
                        <a:buNone/>
                      </a:pPr>
                      <a:r>
                        <a:rPr lang="en-US" sz="930" dirty="0">
                          <a:solidFill>
                            <a:srgbClr val="1F2430"/>
                          </a:solidFill>
                          <a:latin typeface="맑은 고딕" pitchFamily="34" charset="0"/>
                          <a:ea typeface="맑은 고딕" pitchFamily="34" charset="-122"/>
                          <a:cs typeface="맑은 고딕" pitchFamily="34" charset="-120"/>
                        </a:rPr>
                        <a:t>One-Click 자동 생성</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c>
                  <a:txBody>
                    <a:bodyPr/>
                    <a:lstStyle/>
                    <a:p>
                      <a:pPr algn="ctr" indent="0" marL="0">
                        <a:buNone/>
                      </a:pPr>
                      <a:r>
                        <a:rPr lang="en-US" sz="1000" b="1" dirty="0">
                          <a:solidFill>
                            <a:srgbClr val="2E7D45"/>
                          </a:solidFill>
                          <a:latin typeface="맑은 고딕" pitchFamily="34" charset="0"/>
                          <a:ea typeface="맑은 고딕" pitchFamily="34" charset="-122"/>
                          <a:cs typeface="맑은 고딕" pitchFamily="34" charset="-120"/>
                        </a:rPr>
                        <a:t>즉시</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1F4F8"/>
                    </a:solidFill>
                  </a:tcPr>
                </a:tc>
              </a:tr>
              <a:tr h="685800">
                <a:tc>
                  <a:txBody>
                    <a:bodyPr/>
                    <a:lstStyle/>
                    <a:p>
                      <a:pPr indent="0" marL="0">
                        <a:buNone/>
                      </a:pPr>
                      <a:r>
                        <a:rPr lang="en-US" sz="1000" b="1" dirty="0">
                          <a:solidFill>
                            <a:srgbClr val="13294B"/>
                          </a:solidFill>
                          <a:latin typeface="맑은 고딕" pitchFamily="34" charset="0"/>
                          <a:ea typeface="맑은 고딕" pitchFamily="34" charset="-122"/>
                          <a:cs typeface="맑은 고딕" pitchFamily="34" charset="-120"/>
                        </a:rPr>
                        <a:t>동일 오류 재발생 여부</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930" dirty="0">
                          <a:solidFill>
                            <a:srgbClr val="5B6472"/>
                          </a:solidFill>
                          <a:latin typeface="맑은 고딕" pitchFamily="34" charset="0"/>
                          <a:ea typeface="맑은 고딕" pitchFamily="34" charset="-122"/>
                          <a:cs typeface="맑은 고딕" pitchFamily="34" charset="-120"/>
                        </a:rPr>
                        <a:t>발견되기 전까지 계속 반복</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930" dirty="0">
                          <a:solidFill>
                            <a:srgbClr val="1F2430"/>
                          </a:solidFill>
                          <a:latin typeface="맑은 고딕" pitchFamily="34" charset="0"/>
                          <a:ea typeface="맑은 고딕" pitchFamily="34" charset="-122"/>
                          <a:cs typeface="맑은 고딕" pitchFamily="34" charset="-120"/>
                        </a:rPr>
                        <a:t>1회 수정 → 전 프로젝트 동시 반영</a:t>
                      </a:r>
                      <a:endParaRPr lang="en-US" sz="93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45"/>
                          </a:solidFill>
                          <a:latin typeface="맑은 고딕" pitchFamily="34" charset="0"/>
                          <a:ea typeface="맑은 고딕" pitchFamily="34" charset="-122"/>
                          <a:cs typeface="맑은 고딕" pitchFamily="34" charset="-120"/>
                        </a:rPr>
                        <a:t>구조적으로 원천 차단</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bl>
          </a:graphicData>
        </a:graphic>
      </p:graphicFrame>
      <p:sp>
        <p:nvSpPr>
          <p:cNvPr id="6" name="Shape 3"/>
          <p:cNvSpPr/>
          <p:nvPr/>
        </p:nvSpPr>
        <p:spPr>
          <a:xfrm>
            <a:off x="411480" y="4983480"/>
            <a:ext cx="11338560" cy="1097280"/>
          </a:xfrm>
          <a:prstGeom prst="rect">
            <a:avLst/>
          </a:prstGeom>
          <a:solidFill>
            <a:srgbClr val="FDF3E7"/>
          </a:solidFill>
          <a:ln w="13970">
            <a:solidFill>
              <a:srgbClr val="C9A227"/>
            </a:solidFill>
            <a:prstDash val="solid"/>
          </a:ln>
        </p:spPr>
      </p:sp>
      <p:sp>
        <p:nvSpPr>
          <p:cNvPr id="7" name="Text 4"/>
          <p:cNvSpPr/>
          <p:nvPr/>
        </p:nvSpPr>
        <p:spPr>
          <a:xfrm>
            <a:off x="640080" y="5138928"/>
            <a:ext cx="10881360" cy="822960"/>
          </a:xfrm>
          <a:prstGeom prst="rect">
            <a:avLst/>
          </a:prstGeom>
          <a:noFill/>
          <a:ln/>
        </p:spPr>
        <p:txBody>
          <a:bodyPr wrap="square" rtlCol="0" anchor="ctr"/>
          <a:lstStyle/>
          <a:p>
            <a:pPr indent="0" marL="0">
              <a:lnSpc>
                <a:spcPct val="130000"/>
              </a:lnSpc>
              <a:buNone/>
            </a:pPr>
            <a:r>
              <a:rPr lang="en-US" sz="1000" i="1" dirty="0">
                <a:solidFill>
                  <a:srgbClr val="8A4212"/>
                </a:solidFill>
                <a:latin typeface="맑은 고딕" pitchFamily="34" charset="0"/>
                <a:ea typeface="맑은 고딕" pitchFamily="34" charset="-122"/>
                <a:cs typeface="맑은 고딕" pitchFamily="34" charset="-120"/>
              </a:rPr>
              <a:t>※ Man-hour 절감치는 그룹앵커·전단키 등 복잡도가 높은 계산서를 기준으로 한 예시 산정입니다. 실제 절감 효과는 프로젝트별 실적 데이터를 수집하여 다음 개정판에 반영 예정입니다.</a:t>
            </a:r>
            <a:endParaRPr lang="en-US" sz="1000" dirty="0"/>
          </a:p>
        </p:txBody>
      </p:sp>
      <p:sp>
        <p:nvSpPr>
          <p:cNvPr id="8" name="Text 5"/>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9" name="Text 6"/>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변경 이력 (History) — 내부 관리용</a:t>
            </a:r>
            <a:endParaRPr lang="en-US" sz="1900" dirty="0"/>
          </a:p>
        </p:txBody>
      </p:sp>
      <p:sp>
        <p:nvSpPr>
          <p:cNvPr id="4" name="Text 2"/>
          <p:cNvSpPr/>
          <p:nvPr/>
        </p:nvSpPr>
        <p:spPr>
          <a:xfrm>
            <a:off x="411480" y="777240"/>
            <a:ext cx="1097280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본 페이지는 외부 공유용이 아닌 팀 내부 히스토리 기록입니다</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38560" cy="914400"/>
        </p:xfrm>
        <a:graphic>
          <a:graphicData uri="http://schemas.openxmlformats.org/drawingml/2006/table">
            <a:tbl>
              <a:tblPr/>
              <a:tblGrid>
                <a:gridCol w="1828800"/>
                <a:gridCol w="5120640"/>
                <a:gridCol w="2926080"/>
                <a:gridCol w="1463040"/>
              </a:tblGrid>
              <a:tr h="320040">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구분</a:t>
                      </a:r>
                      <a:endParaRPr lang="en-US" sz="9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내용</a:t>
                      </a:r>
                      <a:endParaRPr lang="en-US" sz="9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영향</a:t>
                      </a:r>
                      <a:endParaRPr lang="en-US" sz="9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판정</a:t>
                      </a:r>
                      <a:endParaRPr lang="en-US" sz="9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r>
              <a:tr h="566928">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기존 도구(HTML v1) 버그</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인장 투영면적(ANc)을 사각형으로 근사 → 실제(원형 환상면적) 대비 최대 3.9배 과대산정</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인장 Concrete Breakout 내력 과대산정</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00" b="1" dirty="0">
                          <a:solidFill>
                            <a:srgbClr val="2E7D45"/>
                          </a:solidFill>
                          <a:latin typeface="맑은 고딕" pitchFamily="34" charset="0"/>
                          <a:ea typeface="맑은 고딕" pitchFamily="34" charset="-122"/>
                          <a:cs typeface="맑은 고딕" pitchFamily="34" charset="-120"/>
                        </a:rPr>
                        <a:t>v2.0 수정</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66928">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기존 도구(HTML v1) 버그</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전단 기본강도(Vb) 산정 시 원형배치 전용 ca1' 미반영 → 최대 20배 이상 과대평가</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전단 Concrete Breakout 내력 과대산정</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E7D45"/>
                          </a:solidFill>
                          <a:latin typeface="맑은 고딕" pitchFamily="34" charset="0"/>
                          <a:ea typeface="맑은 고딕" pitchFamily="34" charset="-122"/>
                          <a:cs typeface="맑은 고딕" pitchFamily="34" charset="-120"/>
                        </a:rPr>
                        <a:t>v2.0 수정</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457200">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TC2C 계산서/스펙 공백</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PIP STE05121 마찰 0/100 이분법만 규정 — Plate/Rib 직접 지압 저항 산정식 부재</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전단 검토 시 과도하게 보수적인 결과 가능</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00" b="1" dirty="0">
                          <a:solidFill>
                            <a:srgbClr val="3E6FB0"/>
                          </a:solidFill>
                          <a:latin typeface="맑은 고딕" pitchFamily="34" charset="0"/>
                          <a:ea typeface="맑은 고딕" pitchFamily="34" charset="-122"/>
                          <a:cs typeface="맑은 고딕" pitchFamily="34" charset="-120"/>
                        </a:rPr>
                        <a:t>v2.1 반영(전단키 §17.11)</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457200">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TC2C 계산서 표기</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φc,t=0.75 (Table 17.5.3(b) 근거 재확인)</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페데스탈 수직철근(보강철근) 확인 → 적용 정상</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E7D45"/>
                          </a:solidFill>
                          <a:latin typeface="맑은 고딕" pitchFamily="34" charset="0"/>
                          <a:ea typeface="맑은 고딕" pitchFamily="34" charset="-122"/>
                          <a:cs typeface="맑은 고딕" pitchFamily="34" charset="-120"/>
                        </a:rPr>
                        <a:t>확인 완료</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457200">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산출물 관리</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Excel/PPT 개별 파일 방식 — 입력조건 감사·재사용·버전관리 어려움</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동일 검토 반복, 인적 오류 리스크</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00" b="1" dirty="0">
                          <a:solidFill>
                            <a:srgbClr val="C9A227"/>
                          </a:solidFill>
                          <a:latin typeface="맑은 고딕" pitchFamily="34" charset="0"/>
                          <a:ea typeface="맑은 고딕" pitchFamily="34" charset="-122"/>
                          <a:cs typeface="맑은 고딕" pitchFamily="34" charset="-120"/>
                        </a:rPr>
                        <a:t>시스템 전환</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66928">
                <a:tc>
                  <a:txBody>
                    <a:bodyPr/>
                    <a:lstStyle/>
                    <a:p>
                      <a:pPr indent="0" marL="0">
                        <a:buNone/>
                      </a:pPr>
                      <a:r>
                        <a:rPr lang="en-US" sz="900" b="1" dirty="0">
                          <a:solidFill>
                            <a:srgbClr val="1F2430"/>
                          </a:solidFill>
                          <a:latin typeface="맑은 고딕" pitchFamily="34" charset="0"/>
                          <a:ea typeface="맑은 고딕" pitchFamily="34" charset="-122"/>
                          <a:cs typeface="맑은 고딕" pitchFamily="34" charset="-120"/>
                        </a:rPr>
                        <a:t>Rectangular 모듈(신규)</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동일 ANc/Vb 버그 유무 전수검증 — Octagonal과 별도 계보로 3,000줄 코드 전량 확인</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70" dirty="0">
                          <a:solidFill>
                            <a:srgbClr val="5B6472"/>
                          </a:solidFill>
                          <a:latin typeface="맑은 고딕" pitchFamily="34" charset="0"/>
                          <a:ea typeface="맑은 고딕" pitchFamily="34" charset="-122"/>
                          <a:cs typeface="맑은 고딕" pitchFamily="34" charset="-120"/>
                        </a:rPr>
                        <a:t>이미 v4 스펙(반복계산+콘크리트모멘트 포함) 정확 구현 확인, 전단키만 부재</a:t>
                      </a:r>
                      <a:endParaRPr lang="en-US" sz="87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E6FB0"/>
                          </a:solidFill>
                          <a:latin typeface="맑은 고딕" pitchFamily="34" charset="0"/>
                          <a:ea typeface="맑은 고딕" pitchFamily="34" charset="-122"/>
                          <a:cs typeface="맑은 고딕" pitchFamily="34" charset="-120"/>
                        </a:rPr>
                        <a:t>전단키 이식(본 보고서)</a:t>
                      </a:r>
                      <a:endParaRPr lang="en-US" sz="9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bl>
          </a:graphicData>
        </a:graphic>
      </p:graphicFrame>
      <p:sp>
        <p:nvSpPr>
          <p:cNvPr id="6" name="Text 3"/>
          <p:cNvSpPr/>
          <p:nvPr/>
        </p:nvSpPr>
        <p:spPr>
          <a:xfrm>
            <a:off x="411480" y="5029200"/>
            <a:ext cx="5486400" cy="274320"/>
          </a:xfrm>
          <a:prstGeom prst="rect">
            <a:avLst/>
          </a:prstGeom>
          <a:noFill/>
          <a:ln/>
        </p:spPr>
        <p:txBody>
          <a:bodyPr wrap="square" rtlCol="0" anchor="ctr"/>
          <a:lstStyle/>
          <a:p>
            <a:pPr indent="0" marL="0">
              <a:buNone/>
            </a:pPr>
            <a:r>
              <a:rPr lang="en-US" sz="1150" b="1" dirty="0">
                <a:solidFill>
                  <a:srgbClr val="13294B"/>
                </a:solidFill>
                <a:latin typeface="맑은 고딕" pitchFamily="34" charset="0"/>
                <a:ea typeface="맑은 고딕" pitchFamily="34" charset="-122"/>
                <a:cs typeface="맑은 고딕" pitchFamily="34" charset="-120"/>
              </a:rPr>
              <a:t>세부 수정/추가 내역 (v2.0 → v2.1)</a:t>
            </a:r>
            <a:endParaRPr lang="en-US" sz="1150" dirty="0"/>
          </a:p>
        </p:txBody>
      </p:sp>
      <p:sp>
        <p:nvSpPr>
          <p:cNvPr id="7" name="Text 4"/>
          <p:cNvSpPr/>
          <p:nvPr/>
        </p:nvSpPr>
        <p:spPr>
          <a:xfrm>
            <a:off x="411480" y="5349240"/>
            <a:ext cx="11247120" cy="1097280"/>
          </a:xfrm>
          <a:prstGeom prst="rect">
            <a:avLst/>
          </a:prstGeom>
          <a:noFill/>
          <a:ln/>
        </p:spPr>
        <p:txBody>
          <a:bodyPr wrap="square" rtlCol="0" anchor="ctr"/>
          <a:lstStyle/>
          <a:p>
            <a:pPr marL="342900" indent="-342900">
              <a:spcAft>
                <a:spcPts val="3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FIX01 — 인장 ANc: 사각형 bounding-box 근사 → 원형 환상면적식. TC2C 5,571,545mm² 완전 일치 검증</a:t>
            </a:r>
            <a:endParaRPr lang="en-US" sz="1000" dirty="0"/>
          </a:p>
          <a:p>
            <a:pPr marL="342900" indent="-342900">
              <a:spcAft>
                <a:spcPts val="3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FIX02 — 전단 Vb: 팔각형 전용 ca1' 미반영 버그 수정. TC2C 192.71kN 완전 일치 검증</a:t>
            </a:r>
            <a:endParaRPr lang="en-US" sz="1000" dirty="0"/>
          </a:p>
          <a:p>
            <a:pPr marL="342900" indent="-342900">
              <a:spcAft>
                <a:spcPts val="3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NEW01 — Hilti Bond Preset 추가 (검증 필요 경고 포함), 마찰계수 기본값 0.55로 변경</a:t>
            </a:r>
            <a:endParaRPr lang="en-US" sz="1000" dirty="0"/>
          </a:p>
          <a:p>
            <a:pPr marL="342900" indent="-342900">
              <a:spcAft>
                <a:spcPts val="3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NEW02 — 전단키(Shear Lug) 검토 추가 — ACI 318-19 §17.11 원문 기준 (v2.1)</a:t>
            </a:r>
            <a:endParaRPr lang="en-US" sz="1000" dirty="0"/>
          </a:p>
          <a:p>
            <a:pPr marL="342900" indent="-342900">
              <a:spcAft>
                <a:spcPts val="3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NEW03 — Rectangular 모듈 3,000줄 전수검증 완료 + 전단키(§17.11) 이식 (본 보고서, v4.51)</a:t>
            </a:r>
            <a:endParaRPr lang="en-US" sz="1000" dirty="0"/>
          </a:p>
        </p:txBody>
      </p:sp>
      <p:sp>
        <p:nvSpPr>
          <p:cNvPr id="8" name="Text 5"/>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9" name="Text 6"/>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보고 순서</a:t>
            </a:r>
            <a:endParaRPr lang="en-US" sz="1900" dirty="0"/>
          </a:p>
        </p:txBody>
      </p:sp>
      <p:sp>
        <p:nvSpPr>
          <p:cNvPr id="4" name="Text 2"/>
          <p:cNvSpPr/>
          <p:nvPr/>
        </p:nvSpPr>
        <p:spPr>
          <a:xfrm>
            <a:off x="640080" y="1051560"/>
            <a:ext cx="1005840" cy="914400"/>
          </a:xfrm>
          <a:prstGeom prst="rect">
            <a:avLst/>
          </a:prstGeom>
          <a:noFill/>
          <a:ln/>
        </p:spPr>
        <p:txBody>
          <a:bodyPr wrap="square" rtlCol="0" anchor="ctr"/>
          <a:lstStyle/>
          <a:p>
            <a:pPr indent="0" marL="0">
              <a:buNone/>
            </a:pPr>
            <a:r>
              <a:rPr lang="en-US" sz="3400" b="1" dirty="0">
                <a:solidFill>
                  <a:srgbClr val="C7CCD4"/>
                </a:solidFill>
                <a:latin typeface="맑은 고딕" pitchFamily="34" charset="0"/>
                <a:ea typeface="맑은 고딕" pitchFamily="34" charset="-122"/>
                <a:cs typeface="맑은 고딕" pitchFamily="34" charset="-120"/>
              </a:rPr>
              <a:t>01</a:t>
            </a:r>
            <a:endParaRPr lang="en-US" sz="3400" dirty="0"/>
          </a:p>
        </p:txBody>
      </p:sp>
      <p:sp>
        <p:nvSpPr>
          <p:cNvPr id="5" name="Text 3"/>
          <p:cNvSpPr/>
          <p:nvPr/>
        </p:nvSpPr>
        <p:spPr>
          <a:xfrm>
            <a:off x="1874520" y="1097280"/>
            <a:ext cx="9144000" cy="365760"/>
          </a:xfrm>
          <a:prstGeom prst="rect">
            <a:avLst/>
          </a:prstGeom>
          <a:noFill/>
          <a:ln/>
        </p:spPr>
        <p:txBody>
          <a:bodyPr wrap="square" rtlCol="0" anchor="ctr"/>
          <a:lstStyle/>
          <a:p>
            <a:pPr indent="0" marL="0">
              <a:buNone/>
            </a:pPr>
            <a:r>
              <a:rPr lang="en-US" sz="1600" b="1" dirty="0">
                <a:solidFill>
                  <a:srgbClr val="13294B"/>
                </a:solidFill>
                <a:latin typeface="맑은 고딕" pitchFamily="34" charset="0"/>
                <a:ea typeface="맑은 고딕" pitchFamily="34" charset="-122"/>
                <a:cs typeface="맑은 고딕" pitchFamily="34" charset="-120"/>
              </a:rPr>
              <a:t>왜 이 과제를 시작했는가</a:t>
            </a:r>
            <a:endParaRPr lang="en-US" sz="1600" dirty="0"/>
          </a:p>
        </p:txBody>
      </p:sp>
      <p:sp>
        <p:nvSpPr>
          <p:cNvPr id="6" name="Text 4"/>
          <p:cNvSpPr/>
          <p:nvPr/>
        </p:nvSpPr>
        <p:spPr>
          <a:xfrm>
            <a:off x="1874520" y="1490472"/>
            <a:ext cx="9144000" cy="32004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Design Module Committee 배경 및 KPI 목표</a:t>
            </a:r>
            <a:endParaRPr lang="en-US" sz="1100" dirty="0"/>
          </a:p>
        </p:txBody>
      </p:sp>
      <p:sp>
        <p:nvSpPr>
          <p:cNvPr id="7" name="Shape 5"/>
          <p:cNvSpPr/>
          <p:nvPr/>
        </p:nvSpPr>
        <p:spPr>
          <a:xfrm>
            <a:off x="640080" y="1984248"/>
            <a:ext cx="10881360" cy="0"/>
          </a:xfrm>
          <a:prstGeom prst="line">
            <a:avLst/>
          </a:prstGeom>
          <a:noFill/>
          <a:ln w="12700">
            <a:solidFill>
              <a:srgbClr val="DCD9D2"/>
            </a:solidFill>
            <a:prstDash val="solid"/>
          </a:ln>
        </p:spPr>
      </p:sp>
      <p:sp>
        <p:nvSpPr>
          <p:cNvPr id="8" name="Text 6"/>
          <p:cNvSpPr/>
          <p:nvPr/>
        </p:nvSpPr>
        <p:spPr>
          <a:xfrm>
            <a:off x="640080" y="2112264"/>
            <a:ext cx="1005840" cy="914400"/>
          </a:xfrm>
          <a:prstGeom prst="rect">
            <a:avLst/>
          </a:prstGeom>
          <a:noFill/>
          <a:ln/>
        </p:spPr>
        <p:txBody>
          <a:bodyPr wrap="square" rtlCol="0" anchor="ctr"/>
          <a:lstStyle/>
          <a:p>
            <a:pPr indent="0" marL="0">
              <a:buNone/>
            </a:pPr>
            <a:r>
              <a:rPr lang="en-US" sz="3400" b="1" dirty="0">
                <a:solidFill>
                  <a:srgbClr val="C7CCD4"/>
                </a:solidFill>
                <a:latin typeface="맑은 고딕" pitchFamily="34" charset="0"/>
                <a:ea typeface="맑은 고딕" pitchFamily="34" charset="-122"/>
                <a:cs typeface="맑은 고딕" pitchFamily="34" charset="-120"/>
              </a:rPr>
              <a:t>02</a:t>
            </a:r>
            <a:endParaRPr lang="en-US" sz="3400" dirty="0"/>
          </a:p>
        </p:txBody>
      </p:sp>
      <p:sp>
        <p:nvSpPr>
          <p:cNvPr id="9" name="Text 7"/>
          <p:cNvSpPr/>
          <p:nvPr/>
        </p:nvSpPr>
        <p:spPr>
          <a:xfrm>
            <a:off x="1874520" y="2157984"/>
            <a:ext cx="9144000" cy="365760"/>
          </a:xfrm>
          <a:prstGeom prst="rect">
            <a:avLst/>
          </a:prstGeom>
          <a:noFill/>
          <a:ln/>
        </p:spPr>
        <p:txBody>
          <a:bodyPr wrap="square" rtlCol="0" anchor="ctr"/>
          <a:lstStyle/>
          <a:p>
            <a:pPr indent="0" marL="0">
              <a:buNone/>
            </a:pPr>
            <a:r>
              <a:rPr lang="en-US" sz="1600" b="1" dirty="0">
                <a:solidFill>
                  <a:srgbClr val="13294B"/>
                </a:solidFill>
                <a:latin typeface="맑은 고딕" pitchFamily="34" charset="0"/>
                <a:ea typeface="맑은 고딕" pitchFamily="34" charset="-122"/>
                <a:cs typeface="맑은 고딕" pitchFamily="34" charset="-120"/>
              </a:rPr>
              <a:t>무엇을 결론지었는가</a:t>
            </a:r>
            <a:endParaRPr lang="en-US" sz="1600" dirty="0"/>
          </a:p>
        </p:txBody>
      </p:sp>
      <p:sp>
        <p:nvSpPr>
          <p:cNvPr id="10" name="Text 8"/>
          <p:cNvSpPr/>
          <p:nvPr/>
        </p:nvSpPr>
        <p:spPr>
          <a:xfrm>
            <a:off x="1874520" y="2551176"/>
            <a:ext cx="9144000" cy="32004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Excel 개별화 방식의 한계 → 시스템 방식 전환 필요성</a:t>
            </a:r>
            <a:endParaRPr lang="en-US" sz="1100" dirty="0"/>
          </a:p>
        </p:txBody>
      </p:sp>
      <p:sp>
        <p:nvSpPr>
          <p:cNvPr id="11" name="Shape 9"/>
          <p:cNvSpPr/>
          <p:nvPr/>
        </p:nvSpPr>
        <p:spPr>
          <a:xfrm>
            <a:off x="640080" y="3044952"/>
            <a:ext cx="10881360" cy="0"/>
          </a:xfrm>
          <a:prstGeom prst="line">
            <a:avLst/>
          </a:prstGeom>
          <a:noFill/>
          <a:ln w="12700">
            <a:solidFill>
              <a:srgbClr val="DCD9D2"/>
            </a:solidFill>
            <a:prstDash val="solid"/>
          </a:ln>
        </p:spPr>
      </p:sp>
      <p:sp>
        <p:nvSpPr>
          <p:cNvPr id="12" name="Text 10"/>
          <p:cNvSpPr/>
          <p:nvPr/>
        </p:nvSpPr>
        <p:spPr>
          <a:xfrm>
            <a:off x="640080" y="3172968"/>
            <a:ext cx="1005840" cy="914400"/>
          </a:xfrm>
          <a:prstGeom prst="rect">
            <a:avLst/>
          </a:prstGeom>
          <a:noFill/>
          <a:ln/>
        </p:spPr>
        <p:txBody>
          <a:bodyPr wrap="square" rtlCol="0" anchor="ctr"/>
          <a:lstStyle/>
          <a:p>
            <a:pPr indent="0" marL="0">
              <a:buNone/>
            </a:pPr>
            <a:r>
              <a:rPr lang="en-US" sz="3400" b="1" dirty="0">
                <a:solidFill>
                  <a:srgbClr val="C7CCD4"/>
                </a:solidFill>
                <a:latin typeface="맑은 고딕" pitchFamily="34" charset="0"/>
                <a:ea typeface="맑은 고딕" pitchFamily="34" charset="-122"/>
                <a:cs typeface="맑은 고딕" pitchFamily="34" charset="-120"/>
              </a:rPr>
              <a:t>03</a:t>
            </a:r>
            <a:endParaRPr lang="en-US" sz="3400" dirty="0"/>
          </a:p>
        </p:txBody>
      </p:sp>
      <p:sp>
        <p:nvSpPr>
          <p:cNvPr id="13" name="Text 11"/>
          <p:cNvSpPr/>
          <p:nvPr/>
        </p:nvSpPr>
        <p:spPr>
          <a:xfrm>
            <a:off x="1874520" y="3218688"/>
            <a:ext cx="9144000" cy="365760"/>
          </a:xfrm>
          <a:prstGeom prst="rect">
            <a:avLst/>
          </a:prstGeom>
          <a:noFill/>
          <a:ln/>
        </p:spPr>
        <p:txBody>
          <a:bodyPr wrap="square" rtlCol="0" anchor="ctr"/>
          <a:lstStyle/>
          <a:p>
            <a:pPr indent="0" marL="0">
              <a:buNone/>
            </a:pPr>
            <a:r>
              <a:rPr lang="en-US" sz="1600" b="1" dirty="0">
                <a:solidFill>
                  <a:srgbClr val="13294B"/>
                </a:solidFill>
                <a:latin typeface="맑은 고딕" pitchFamily="34" charset="0"/>
                <a:ea typeface="맑은 고딕" pitchFamily="34" charset="-122"/>
                <a:cs typeface="맑은 고딕" pitchFamily="34" charset="-120"/>
              </a:rPr>
              <a:t>무엇을 개선했는가</a:t>
            </a:r>
            <a:endParaRPr lang="en-US" sz="1600" dirty="0"/>
          </a:p>
        </p:txBody>
      </p:sp>
      <p:sp>
        <p:nvSpPr>
          <p:cNvPr id="14" name="Text 12"/>
          <p:cNvSpPr/>
          <p:nvPr/>
        </p:nvSpPr>
        <p:spPr>
          <a:xfrm>
            <a:off x="1874520" y="3611880"/>
            <a:ext cx="9144000" cy="32004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HTML 계산 시스템 v2.1 — 수정 내역과 장점, 전단키 신규 검토</a:t>
            </a:r>
            <a:endParaRPr lang="en-US" sz="1100" dirty="0"/>
          </a:p>
        </p:txBody>
      </p:sp>
      <p:sp>
        <p:nvSpPr>
          <p:cNvPr id="15" name="Shape 13"/>
          <p:cNvSpPr/>
          <p:nvPr/>
        </p:nvSpPr>
        <p:spPr>
          <a:xfrm>
            <a:off x="640080" y="4105656"/>
            <a:ext cx="10881360" cy="0"/>
          </a:xfrm>
          <a:prstGeom prst="line">
            <a:avLst/>
          </a:prstGeom>
          <a:noFill/>
          <a:ln w="12700">
            <a:solidFill>
              <a:srgbClr val="DCD9D2"/>
            </a:solidFill>
            <a:prstDash val="solid"/>
          </a:ln>
        </p:spPr>
      </p:sp>
      <p:sp>
        <p:nvSpPr>
          <p:cNvPr id="16" name="Text 14"/>
          <p:cNvSpPr/>
          <p:nvPr/>
        </p:nvSpPr>
        <p:spPr>
          <a:xfrm>
            <a:off x="640080" y="4233672"/>
            <a:ext cx="1005840" cy="914400"/>
          </a:xfrm>
          <a:prstGeom prst="rect">
            <a:avLst/>
          </a:prstGeom>
          <a:noFill/>
          <a:ln/>
        </p:spPr>
        <p:txBody>
          <a:bodyPr wrap="square" rtlCol="0" anchor="ctr"/>
          <a:lstStyle/>
          <a:p>
            <a:pPr indent="0" marL="0">
              <a:buNone/>
            </a:pPr>
            <a:r>
              <a:rPr lang="en-US" sz="3400" b="1" dirty="0">
                <a:solidFill>
                  <a:srgbClr val="C7CCD4"/>
                </a:solidFill>
                <a:latin typeface="맑은 고딕" pitchFamily="34" charset="0"/>
                <a:ea typeface="맑은 고딕" pitchFamily="34" charset="-122"/>
                <a:cs typeface="맑은 고딕" pitchFamily="34" charset="-120"/>
              </a:rPr>
              <a:t>04</a:t>
            </a:r>
            <a:endParaRPr lang="en-US" sz="3400" dirty="0"/>
          </a:p>
        </p:txBody>
      </p:sp>
      <p:sp>
        <p:nvSpPr>
          <p:cNvPr id="17" name="Text 15"/>
          <p:cNvSpPr/>
          <p:nvPr/>
        </p:nvSpPr>
        <p:spPr>
          <a:xfrm>
            <a:off x="1874520" y="4279392"/>
            <a:ext cx="9144000" cy="365760"/>
          </a:xfrm>
          <a:prstGeom prst="rect">
            <a:avLst/>
          </a:prstGeom>
          <a:noFill/>
          <a:ln/>
        </p:spPr>
        <p:txBody>
          <a:bodyPr wrap="square" rtlCol="0" anchor="ctr"/>
          <a:lstStyle/>
          <a:p>
            <a:pPr indent="0" marL="0">
              <a:buNone/>
            </a:pPr>
            <a:r>
              <a:rPr lang="en-US" sz="1600" b="1" dirty="0">
                <a:solidFill>
                  <a:srgbClr val="13294B"/>
                </a:solidFill>
                <a:latin typeface="맑은 고딕" pitchFamily="34" charset="0"/>
                <a:ea typeface="맑은 고딕" pitchFamily="34" charset="-122"/>
                <a:cs typeface="맑은 고딕" pitchFamily="34" charset="-120"/>
              </a:rPr>
              <a:t>Rectangular 모듈은 어떤가</a:t>
            </a:r>
            <a:endParaRPr lang="en-US" sz="1600" dirty="0"/>
          </a:p>
        </p:txBody>
      </p:sp>
      <p:sp>
        <p:nvSpPr>
          <p:cNvPr id="18" name="Text 16"/>
          <p:cNvSpPr/>
          <p:nvPr/>
        </p:nvSpPr>
        <p:spPr>
          <a:xfrm>
            <a:off x="1874520" y="4672584"/>
            <a:ext cx="9144000" cy="32004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3,000줄 전수검증 결과 및 전단키 이식, 배치형태 통합설계 로드맵</a:t>
            </a:r>
            <a:endParaRPr lang="en-US" sz="1100" dirty="0"/>
          </a:p>
        </p:txBody>
      </p:sp>
      <p:sp>
        <p:nvSpPr>
          <p:cNvPr id="19" name="Shape 17"/>
          <p:cNvSpPr/>
          <p:nvPr/>
        </p:nvSpPr>
        <p:spPr>
          <a:xfrm>
            <a:off x="640080" y="5166360"/>
            <a:ext cx="10881360" cy="0"/>
          </a:xfrm>
          <a:prstGeom prst="line">
            <a:avLst/>
          </a:prstGeom>
          <a:noFill/>
          <a:ln w="12700">
            <a:solidFill>
              <a:srgbClr val="DCD9D2"/>
            </a:solidFill>
            <a:prstDash val="solid"/>
          </a:ln>
        </p:spPr>
      </p:sp>
      <p:sp>
        <p:nvSpPr>
          <p:cNvPr id="20" name="Text 18"/>
          <p:cNvSpPr/>
          <p:nvPr/>
        </p:nvSpPr>
        <p:spPr>
          <a:xfrm>
            <a:off x="640080" y="5294376"/>
            <a:ext cx="1005840" cy="914400"/>
          </a:xfrm>
          <a:prstGeom prst="rect">
            <a:avLst/>
          </a:prstGeom>
          <a:noFill/>
          <a:ln/>
        </p:spPr>
        <p:txBody>
          <a:bodyPr wrap="square" rtlCol="0" anchor="ctr"/>
          <a:lstStyle/>
          <a:p>
            <a:pPr indent="0" marL="0">
              <a:buNone/>
            </a:pPr>
            <a:r>
              <a:rPr lang="en-US" sz="3400" b="1" dirty="0">
                <a:solidFill>
                  <a:srgbClr val="C7CCD4"/>
                </a:solidFill>
                <a:latin typeface="맑은 고딕" pitchFamily="34" charset="0"/>
                <a:ea typeface="맑은 고딕" pitchFamily="34" charset="-122"/>
                <a:cs typeface="맑은 고딕" pitchFamily="34" charset="-120"/>
              </a:rPr>
              <a:t>05</a:t>
            </a:r>
            <a:endParaRPr lang="en-US" sz="3400" dirty="0"/>
          </a:p>
        </p:txBody>
      </p:sp>
      <p:sp>
        <p:nvSpPr>
          <p:cNvPr id="21" name="Text 19"/>
          <p:cNvSpPr/>
          <p:nvPr/>
        </p:nvSpPr>
        <p:spPr>
          <a:xfrm>
            <a:off x="1874520" y="5340096"/>
            <a:ext cx="9144000" cy="365760"/>
          </a:xfrm>
          <a:prstGeom prst="rect">
            <a:avLst/>
          </a:prstGeom>
          <a:noFill/>
          <a:ln/>
        </p:spPr>
        <p:txBody>
          <a:bodyPr wrap="square" rtlCol="0" anchor="ctr"/>
          <a:lstStyle/>
          <a:p>
            <a:pPr indent="0" marL="0">
              <a:buNone/>
            </a:pPr>
            <a:r>
              <a:rPr lang="en-US" sz="1600" b="1" dirty="0">
                <a:solidFill>
                  <a:srgbClr val="13294B"/>
                </a:solidFill>
                <a:latin typeface="맑은 고딕" pitchFamily="34" charset="0"/>
                <a:ea typeface="맑은 고딕" pitchFamily="34" charset="-122"/>
                <a:cs typeface="맑은 고딕" pitchFamily="34" charset="-120"/>
              </a:rPr>
              <a:t>다음은 무엇인가</a:t>
            </a:r>
            <a:endParaRPr lang="en-US" sz="1600" dirty="0"/>
          </a:p>
        </p:txBody>
      </p:sp>
      <p:sp>
        <p:nvSpPr>
          <p:cNvPr id="22" name="Text 20"/>
          <p:cNvSpPr/>
          <p:nvPr/>
        </p:nvSpPr>
        <p:spPr>
          <a:xfrm>
            <a:off x="1874520" y="5733288"/>
            <a:ext cx="9144000" cy="320040"/>
          </a:xfrm>
          <a:prstGeom prst="rect">
            <a:avLst/>
          </a:prstGeom>
          <a:noFill/>
          <a:ln/>
        </p:spPr>
        <p:txBody>
          <a:bodyPr wrap="square" rtlCol="0" anchor="ctr"/>
          <a:lstStyle/>
          <a:p>
            <a:pPr indent="0" marL="0">
              <a:buNone/>
            </a:pPr>
            <a:r>
              <a:rPr lang="en-US" sz="1100" dirty="0">
                <a:solidFill>
                  <a:srgbClr val="5B6472"/>
                </a:solidFill>
                <a:latin typeface="맑은 고딕" pitchFamily="34" charset="0"/>
                <a:ea typeface="맑은 고딕" pitchFamily="34" charset="-122"/>
                <a:cs typeface="맑은 고딕" pitchFamily="34" charset="-120"/>
              </a:rPr>
              <a:t>Hilti 화학앵커(Chemical Bolt) 통합 로드맵</a:t>
            </a:r>
            <a:endParaRPr lang="en-US" sz="1100" dirty="0"/>
          </a:p>
        </p:txBody>
      </p:sp>
      <p:sp>
        <p:nvSpPr>
          <p:cNvPr id="23" name="Text 21"/>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24" name="Text 22"/>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왜 이 과제를 시작했는가</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Design Module, Committee — 콘크리트 앵커 (플랜트사업본부 지반구조설계팀)</a:t>
            </a:r>
            <a:endParaRPr lang="en-US" sz="1150" dirty="0"/>
          </a:p>
        </p:txBody>
      </p:sp>
      <p:sp>
        <p:nvSpPr>
          <p:cNvPr id="5" name="Shape 3"/>
          <p:cNvSpPr/>
          <p:nvPr/>
        </p:nvSpPr>
        <p:spPr>
          <a:xfrm>
            <a:off x="411480" y="1234440"/>
            <a:ext cx="3685032" cy="54864"/>
          </a:xfrm>
          <a:prstGeom prst="rect">
            <a:avLst/>
          </a:prstGeom>
          <a:solidFill>
            <a:srgbClr val="13294B"/>
          </a:solidFill>
          <a:ln/>
        </p:spPr>
      </p:sp>
      <p:sp>
        <p:nvSpPr>
          <p:cNvPr id="6" name="Shape 4"/>
          <p:cNvSpPr/>
          <p:nvPr/>
        </p:nvSpPr>
        <p:spPr>
          <a:xfrm>
            <a:off x="411480" y="1289304"/>
            <a:ext cx="3685032" cy="1691640"/>
          </a:xfrm>
          <a:prstGeom prst="rect">
            <a:avLst/>
          </a:prstGeom>
          <a:solidFill>
            <a:srgbClr val="FFFFFF"/>
          </a:solidFill>
          <a:ln w="12700">
            <a:solidFill>
              <a:srgbClr val="DCD9D2"/>
            </a:solidFill>
            <a:prstDash val="solid"/>
          </a:ln>
        </p:spPr>
      </p:sp>
      <p:sp>
        <p:nvSpPr>
          <p:cNvPr id="7" name="Text 5"/>
          <p:cNvSpPr/>
          <p:nvPr/>
        </p:nvSpPr>
        <p:spPr>
          <a:xfrm>
            <a:off x="612648" y="1444752"/>
            <a:ext cx="3282696" cy="365760"/>
          </a:xfrm>
          <a:prstGeom prst="rect">
            <a:avLst/>
          </a:prstGeom>
          <a:noFill/>
          <a:ln/>
        </p:spPr>
        <p:txBody>
          <a:bodyPr wrap="square" rtlCol="0" anchor="ctr"/>
          <a:lstStyle/>
          <a:p>
            <a:pPr indent="0" marL="0">
              <a:buNone/>
            </a:pPr>
            <a:r>
              <a:rPr lang="en-US" sz="1400" b="1" dirty="0">
                <a:solidFill>
                  <a:srgbClr val="13294B"/>
                </a:solidFill>
                <a:latin typeface="맑은 고딕" pitchFamily="34" charset="0"/>
                <a:ea typeface="맑은 고딕" pitchFamily="34" charset="-122"/>
                <a:cs typeface="맑은 고딕" pitchFamily="34" charset="-120"/>
              </a:rPr>
              <a:t>반복적 수작업</a:t>
            </a:r>
            <a:endParaRPr lang="en-US" sz="1400" dirty="0"/>
          </a:p>
        </p:txBody>
      </p:sp>
      <p:sp>
        <p:nvSpPr>
          <p:cNvPr id="8" name="Text 6"/>
          <p:cNvSpPr/>
          <p:nvPr/>
        </p:nvSpPr>
        <p:spPr>
          <a:xfrm>
            <a:off x="612648" y="1874520"/>
            <a:ext cx="3282696" cy="1005840"/>
          </a:xfrm>
          <a:prstGeom prst="rect">
            <a:avLst/>
          </a:prstGeom>
          <a:noFill/>
          <a:ln/>
        </p:spPr>
        <p:txBody>
          <a:bodyPr wrap="square" rtlCol="0" anchor="ctr"/>
          <a:lstStyle/>
          <a:p>
            <a:pPr indent="0" marL="0">
              <a:lnSpc>
                <a:spcPct val="130000"/>
              </a:lnSpc>
              <a:buNone/>
            </a:pPr>
            <a:r>
              <a:rPr lang="en-US" sz="1050" dirty="0">
                <a:solidFill>
                  <a:srgbClr val="5B6472"/>
                </a:solidFill>
                <a:latin typeface="맑은 고딕" pitchFamily="34" charset="0"/>
                <a:ea typeface="맑은 고딕" pitchFamily="34" charset="-122"/>
                <a:cs typeface="맑은 고딕" pitchFamily="34" charset="-120"/>
              </a:rPr>
              <a:t>프로젝트마다 앵커볼트 계산서를 개별 Excel/PPT로 새로 작성 — 동일 검토 로직을 매번 재입력</a:t>
            </a:r>
            <a:endParaRPr lang="en-US" sz="1050" dirty="0"/>
          </a:p>
        </p:txBody>
      </p:sp>
      <p:sp>
        <p:nvSpPr>
          <p:cNvPr id="9" name="Shape 7"/>
          <p:cNvSpPr/>
          <p:nvPr/>
        </p:nvSpPr>
        <p:spPr>
          <a:xfrm>
            <a:off x="4197096" y="1234440"/>
            <a:ext cx="3685032" cy="54864"/>
          </a:xfrm>
          <a:prstGeom prst="rect">
            <a:avLst/>
          </a:prstGeom>
          <a:solidFill>
            <a:srgbClr val="3E6FB0"/>
          </a:solidFill>
          <a:ln/>
        </p:spPr>
      </p:sp>
      <p:sp>
        <p:nvSpPr>
          <p:cNvPr id="10" name="Shape 8"/>
          <p:cNvSpPr/>
          <p:nvPr/>
        </p:nvSpPr>
        <p:spPr>
          <a:xfrm>
            <a:off x="4197096" y="1289304"/>
            <a:ext cx="3685032" cy="1691640"/>
          </a:xfrm>
          <a:prstGeom prst="rect">
            <a:avLst/>
          </a:prstGeom>
          <a:solidFill>
            <a:srgbClr val="FFFFFF"/>
          </a:solidFill>
          <a:ln w="12700">
            <a:solidFill>
              <a:srgbClr val="DCD9D2"/>
            </a:solidFill>
            <a:prstDash val="solid"/>
          </a:ln>
        </p:spPr>
      </p:sp>
      <p:sp>
        <p:nvSpPr>
          <p:cNvPr id="11" name="Text 9"/>
          <p:cNvSpPr/>
          <p:nvPr/>
        </p:nvSpPr>
        <p:spPr>
          <a:xfrm>
            <a:off x="4398264" y="1444752"/>
            <a:ext cx="3282696" cy="365760"/>
          </a:xfrm>
          <a:prstGeom prst="rect">
            <a:avLst/>
          </a:prstGeom>
          <a:noFill/>
          <a:ln/>
        </p:spPr>
        <p:txBody>
          <a:bodyPr wrap="square" rtlCol="0" anchor="ctr"/>
          <a:lstStyle/>
          <a:p>
            <a:pPr indent="0" marL="0">
              <a:buNone/>
            </a:pPr>
            <a:r>
              <a:rPr lang="en-US" sz="1400" b="1" dirty="0">
                <a:solidFill>
                  <a:srgbClr val="13294B"/>
                </a:solidFill>
                <a:latin typeface="맑은 고딕" pitchFamily="34" charset="0"/>
                <a:ea typeface="맑은 고딕" pitchFamily="34" charset="-122"/>
                <a:cs typeface="맑은 고딕" pitchFamily="34" charset="-120"/>
              </a:rPr>
              <a:t>검증의 어려움</a:t>
            </a:r>
            <a:endParaRPr lang="en-US" sz="1400" dirty="0"/>
          </a:p>
        </p:txBody>
      </p:sp>
      <p:sp>
        <p:nvSpPr>
          <p:cNvPr id="12" name="Text 10"/>
          <p:cNvSpPr/>
          <p:nvPr/>
        </p:nvSpPr>
        <p:spPr>
          <a:xfrm>
            <a:off x="4398264" y="1874520"/>
            <a:ext cx="3282696" cy="1005840"/>
          </a:xfrm>
          <a:prstGeom prst="rect">
            <a:avLst/>
          </a:prstGeom>
          <a:noFill/>
          <a:ln/>
        </p:spPr>
        <p:txBody>
          <a:bodyPr wrap="square" rtlCol="0" anchor="ctr"/>
          <a:lstStyle/>
          <a:p>
            <a:pPr indent="0" marL="0">
              <a:lnSpc>
                <a:spcPct val="130000"/>
              </a:lnSpc>
              <a:buNone/>
            </a:pPr>
            <a:r>
              <a:rPr lang="en-US" sz="1050" dirty="0">
                <a:solidFill>
                  <a:srgbClr val="5B6472"/>
                </a:solidFill>
                <a:latin typeface="맑은 고딕" pitchFamily="34" charset="0"/>
                <a:ea typeface="맑은 고딕" pitchFamily="34" charset="-122"/>
                <a:cs typeface="맑은 고딕" pitchFamily="34" charset="-120"/>
              </a:rPr>
              <a:t>그룹앵커 효과, Plate/Rib 전단저항 등 조건을 사람이 매번 판단 → 오류 발생(PPT 원본 지적사항)</a:t>
            </a:r>
            <a:endParaRPr lang="en-US" sz="1050" dirty="0"/>
          </a:p>
        </p:txBody>
      </p:sp>
      <p:sp>
        <p:nvSpPr>
          <p:cNvPr id="13" name="Shape 11"/>
          <p:cNvSpPr/>
          <p:nvPr/>
        </p:nvSpPr>
        <p:spPr>
          <a:xfrm>
            <a:off x="7982712" y="1234440"/>
            <a:ext cx="3685032" cy="54864"/>
          </a:xfrm>
          <a:prstGeom prst="rect">
            <a:avLst/>
          </a:prstGeom>
          <a:solidFill>
            <a:srgbClr val="C9A227"/>
          </a:solidFill>
          <a:ln/>
        </p:spPr>
      </p:sp>
      <p:sp>
        <p:nvSpPr>
          <p:cNvPr id="14" name="Shape 12"/>
          <p:cNvSpPr/>
          <p:nvPr/>
        </p:nvSpPr>
        <p:spPr>
          <a:xfrm>
            <a:off x="7982712" y="1289304"/>
            <a:ext cx="3685032" cy="1691640"/>
          </a:xfrm>
          <a:prstGeom prst="rect">
            <a:avLst/>
          </a:prstGeom>
          <a:solidFill>
            <a:srgbClr val="FFFFFF"/>
          </a:solidFill>
          <a:ln w="12700">
            <a:solidFill>
              <a:srgbClr val="DCD9D2"/>
            </a:solidFill>
            <a:prstDash val="solid"/>
          </a:ln>
        </p:spPr>
      </p:sp>
      <p:sp>
        <p:nvSpPr>
          <p:cNvPr id="15" name="Text 13"/>
          <p:cNvSpPr/>
          <p:nvPr/>
        </p:nvSpPr>
        <p:spPr>
          <a:xfrm>
            <a:off x="8183880" y="1444752"/>
            <a:ext cx="3282696" cy="365760"/>
          </a:xfrm>
          <a:prstGeom prst="rect">
            <a:avLst/>
          </a:prstGeom>
          <a:noFill/>
          <a:ln/>
        </p:spPr>
        <p:txBody>
          <a:bodyPr wrap="square" rtlCol="0" anchor="ctr"/>
          <a:lstStyle/>
          <a:p>
            <a:pPr indent="0" marL="0">
              <a:buNone/>
            </a:pPr>
            <a:r>
              <a:rPr lang="en-US" sz="1400" b="1" dirty="0">
                <a:solidFill>
                  <a:srgbClr val="13294B"/>
                </a:solidFill>
                <a:latin typeface="맑은 고딕" pitchFamily="34" charset="0"/>
                <a:ea typeface="맑은 고딕" pitchFamily="34" charset="-122"/>
                <a:cs typeface="맑은 고딕" pitchFamily="34" charset="-120"/>
              </a:rPr>
              <a:t>산출물 표준화 부재</a:t>
            </a:r>
            <a:endParaRPr lang="en-US" sz="1400" dirty="0"/>
          </a:p>
        </p:txBody>
      </p:sp>
      <p:sp>
        <p:nvSpPr>
          <p:cNvPr id="16" name="Text 14"/>
          <p:cNvSpPr/>
          <p:nvPr/>
        </p:nvSpPr>
        <p:spPr>
          <a:xfrm>
            <a:off x="8183880" y="1874520"/>
            <a:ext cx="3282696" cy="1005840"/>
          </a:xfrm>
          <a:prstGeom prst="rect">
            <a:avLst/>
          </a:prstGeom>
          <a:noFill/>
          <a:ln/>
        </p:spPr>
        <p:txBody>
          <a:bodyPr wrap="square" rtlCol="0" anchor="ctr"/>
          <a:lstStyle/>
          <a:p>
            <a:pPr indent="0" marL="0">
              <a:lnSpc>
                <a:spcPct val="130000"/>
              </a:lnSpc>
              <a:buNone/>
            </a:pPr>
            <a:r>
              <a:rPr lang="en-US" sz="1050" dirty="0">
                <a:solidFill>
                  <a:srgbClr val="5B6472"/>
                </a:solidFill>
                <a:latin typeface="맑은 고딕" pitchFamily="34" charset="0"/>
                <a:ea typeface="맑은 고딕" pitchFamily="34" charset="-122"/>
                <a:cs typeface="맑은 고딕" pitchFamily="34" charset="-120"/>
              </a:rPr>
              <a:t>PEDAS 계산서에서 앵커볼트 관련 Inform이 출력되지 않아 첨부용 계산서를 별도 제작해야 함</a:t>
            </a:r>
            <a:endParaRPr lang="en-US" sz="1050" dirty="0"/>
          </a:p>
        </p:txBody>
      </p:sp>
      <p:sp>
        <p:nvSpPr>
          <p:cNvPr id="17" name="Shape 15"/>
          <p:cNvSpPr/>
          <p:nvPr/>
        </p:nvSpPr>
        <p:spPr>
          <a:xfrm>
            <a:off x="411480" y="3291840"/>
            <a:ext cx="11338560" cy="1508760"/>
          </a:xfrm>
          <a:prstGeom prst="rect">
            <a:avLst/>
          </a:prstGeom>
          <a:solidFill>
            <a:srgbClr val="13294B"/>
          </a:solidFill>
          <a:ln/>
        </p:spPr>
      </p:sp>
      <p:sp>
        <p:nvSpPr>
          <p:cNvPr id="18" name="Text 16"/>
          <p:cNvSpPr/>
          <p:nvPr/>
        </p:nvSpPr>
        <p:spPr>
          <a:xfrm>
            <a:off x="685800" y="3456432"/>
            <a:ext cx="3657600" cy="292608"/>
          </a:xfrm>
          <a:prstGeom prst="rect">
            <a:avLst/>
          </a:prstGeom>
          <a:noFill/>
          <a:ln/>
        </p:spPr>
        <p:txBody>
          <a:bodyPr wrap="square" rtlCol="0" anchor="ctr"/>
          <a:lstStyle/>
          <a:p>
            <a:pPr indent="0" marL="0">
              <a:buNone/>
            </a:pPr>
            <a:r>
              <a:rPr lang="en-US" sz="1250" b="1" dirty="0">
                <a:solidFill>
                  <a:srgbClr val="C9A227"/>
                </a:solidFill>
                <a:latin typeface="맑은 고딕" pitchFamily="34" charset="0"/>
                <a:ea typeface="맑은 고딕" pitchFamily="34" charset="-122"/>
                <a:cs typeface="맑은 고딕" pitchFamily="34" charset="-120"/>
              </a:rPr>
              <a:t>KPI 연계</a:t>
            </a:r>
            <a:endParaRPr lang="en-US" sz="1250" dirty="0"/>
          </a:p>
        </p:txBody>
      </p:sp>
      <p:sp>
        <p:nvSpPr>
          <p:cNvPr id="19" name="Text 17"/>
          <p:cNvSpPr/>
          <p:nvPr/>
        </p:nvSpPr>
        <p:spPr>
          <a:xfrm>
            <a:off x="685800" y="3767328"/>
            <a:ext cx="10789920" cy="914400"/>
          </a:xfrm>
          <a:prstGeom prst="rect">
            <a:avLst/>
          </a:prstGeom>
          <a:noFill/>
          <a:ln/>
        </p:spPr>
        <p:txBody>
          <a:bodyPr wrap="square" rtlCol="0" anchor="ctr"/>
          <a:lstStyle/>
          <a:p>
            <a:pPr indent="0" marL="0">
              <a:lnSpc>
                <a:spcPct val="135000"/>
              </a:lnSpc>
              <a:buNone/>
            </a:pPr>
            <a:r>
              <a:rPr lang="en-US" sz="1200" dirty="0">
                <a:solidFill>
                  <a:srgbClr val="FFFFFF"/>
                </a:solidFill>
                <a:latin typeface="맑은 고딕" pitchFamily="34" charset="0"/>
                <a:ea typeface="맑은 고딕" pitchFamily="34" charset="-122"/>
                <a:cs typeface="맑은 고딕" pitchFamily="34" charset="-120"/>
              </a:rPr>
              <a:t>Vertical Vessel → Horizontal Vessel → Pump type 순으로 표준 계산서를 구축하는 연간 목표 하에,</a:t>
            </a:r>
            <a:endParaRPr lang="en-US" sz="1200" dirty="0"/>
          </a:p>
          <a:p>
            <a:pPr indent="0" marL="0">
              <a:lnSpc>
                <a:spcPct val="135000"/>
              </a:lnSpc>
              <a:buNone/>
            </a:pPr>
            <a:r>
              <a:rPr lang="en-US" sz="1200" dirty="0">
                <a:solidFill>
                  <a:srgbClr val="FFFFFF"/>
                </a:solidFill>
                <a:latin typeface="맑은 고딕" pitchFamily="34" charset="0"/>
                <a:ea typeface="맑은 고딕" pitchFamily="34" charset="-122"/>
                <a:cs typeface="맑은 고딕" pitchFamily="34" charset="-120"/>
              </a:rPr>
              <a:t>2026년 3월 수행 과제로 「기존 계산서 분석 → HTML 기반 One-Click 계산·Attachment 자동화」를 설정하였다.</a:t>
            </a:r>
            <a:endParaRPr lang="en-US" sz="1200" dirty="0"/>
          </a:p>
        </p:txBody>
      </p:sp>
      <p:sp>
        <p:nvSpPr>
          <p:cNvPr id="20" name="Text 18"/>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21" name="Text 19"/>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94B"/>
        </a:solidFill>
      </p:bgPr>
    </p:bg>
    <p:spTree>
      <p:nvGrpSpPr>
        <p:cNvPr id="1" name=""/>
        <p:cNvGrpSpPr/>
        <p:nvPr/>
      </p:nvGrpSpPr>
      <p:grpSpPr>
        <a:xfrm>
          <a:off x="0" y="0"/>
          <a:ext cx="0" cy="0"/>
          <a:chOff x="0" y="0"/>
          <a:chExt cx="0" cy="0"/>
        </a:xfrm>
      </p:grpSpPr>
      <p:sp>
        <p:nvSpPr>
          <p:cNvPr id="2" name="Text 0"/>
          <p:cNvSpPr/>
          <p:nvPr/>
        </p:nvSpPr>
        <p:spPr>
          <a:xfrm>
            <a:off x="548640" y="502920"/>
            <a:ext cx="2743200" cy="320040"/>
          </a:xfrm>
          <a:prstGeom prst="rect">
            <a:avLst/>
          </a:prstGeom>
          <a:noFill/>
          <a:ln/>
        </p:spPr>
        <p:txBody>
          <a:bodyPr wrap="square" rtlCol="0" anchor="ctr"/>
          <a:lstStyle/>
          <a:p>
            <a:pPr indent="0" marL="0">
              <a:buNone/>
            </a:pPr>
            <a:r>
              <a:rPr lang="en-US" sz="1200" b="1" dirty="0">
                <a:solidFill>
                  <a:srgbClr val="C9A227"/>
                </a:solidFill>
                <a:latin typeface="맑은 고딕" pitchFamily="34" charset="0"/>
                <a:ea typeface="맑은 고딕" pitchFamily="34" charset="-122"/>
                <a:cs typeface="맑은 고딕" pitchFamily="34" charset="-120"/>
              </a:rPr>
              <a:t>결론</a:t>
            </a:r>
            <a:endParaRPr lang="en-US" sz="1200" dirty="0"/>
          </a:p>
        </p:txBody>
      </p:sp>
      <p:sp>
        <p:nvSpPr>
          <p:cNvPr id="3" name="Text 1"/>
          <p:cNvSpPr/>
          <p:nvPr/>
        </p:nvSpPr>
        <p:spPr>
          <a:xfrm>
            <a:off x="548640" y="868680"/>
            <a:ext cx="9144000" cy="1371600"/>
          </a:xfrm>
          <a:prstGeom prst="rect">
            <a:avLst/>
          </a:prstGeom>
          <a:noFill/>
          <a:ln/>
        </p:spPr>
        <p:txBody>
          <a:bodyPr wrap="square" rtlCol="0" anchor="ctr"/>
          <a:lstStyle/>
          <a:p>
            <a:pPr indent="0" marL="0">
              <a:lnSpc>
                <a:spcPct val="110000"/>
              </a:lnSpc>
              <a:buNone/>
            </a:pPr>
            <a:r>
              <a:rPr lang="en-US" sz="3200" b="1" dirty="0">
                <a:solidFill>
                  <a:srgbClr val="FFFFFF"/>
                </a:solidFill>
                <a:latin typeface="맑은 고딕" pitchFamily="34" charset="0"/>
                <a:ea typeface="맑은 고딕" pitchFamily="34" charset="-122"/>
                <a:cs typeface="맑은 고딕" pitchFamily="34" charset="-120"/>
              </a:rPr>
              <a:t>Excel 방식에서</a:t>
            </a:r>
            <a:endParaRPr lang="en-US" sz="3200" dirty="0"/>
          </a:p>
          <a:p>
            <a:pPr indent="0" marL="0">
              <a:lnSpc>
                <a:spcPct val="110000"/>
              </a:lnSpc>
              <a:buNone/>
            </a:pPr>
            <a:r>
              <a:rPr lang="en-US" sz="3200" b="1" dirty="0">
                <a:solidFill>
                  <a:srgbClr val="FFFFFF"/>
                </a:solidFill>
                <a:latin typeface="맑은 고딕" pitchFamily="34" charset="0"/>
                <a:ea typeface="맑은 고딕" pitchFamily="34" charset="-122"/>
                <a:cs typeface="맑은 고딕" pitchFamily="34" charset="-120"/>
              </a:rPr>
              <a:t>시스템 방식으로</a:t>
            </a:r>
            <a:endParaRPr lang="en-US" sz="3200" dirty="0"/>
          </a:p>
        </p:txBody>
      </p:sp>
      <p:sp>
        <p:nvSpPr>
          <p:cNvPr id="4" name="Text 2"/>
          <p:cNvSpPr/>
          <p:nvPr/>
        </p:nvSpPr>
        <p:spPr>
          <a:xfrm>
            <a:off x="548640" y="2468880"/>
            <a:ext cx="10789920" cy="1554480"/>
          </a:xfrm>
          <a:prstGeom prst="rect">
            <a:avLst/>
          </a:prstGeom>
          <a:noFill/>
          <a:ln/>
        </p:spPr>
        <p:txBody>
          <a:bodyPr wrap="square" rtlCol="0" anchor="ctr"/>
          <a:lstStyle/>
          <a:p>
            <a:pPr marL="342900" indent="-342900">
              <a:lnSpc>
                <a:spcPct val="125000"/>
              </a:lnSpc>
              <a:spcAft>
                <a:spcPts val="1400"/>
              </a:spcAft>
              <a:buSzPct val="100000"/>
              <a:buChar char="●"/>
            </a:pPr>
            <a:r>
              <a:rPr lang="en-US" sz="1300" dirty="0">
                <a:solidFill>
                  <a:srgbClr val="DCE9F6"/>
                </a:solidFill>
                <a:latin typeface="맑은 고딕" pitchFamily="34" charset="0"/>
                <a:ea typeface="맑은 고딕" pitchFamily="34" charset="-122"/>
                <a:cs typeface="맑은 고딕" pitchFamily="34" charset="-120"/>
              </a:rPr>
              <a:t>동일 검토 로직을 프로젝트마다 재입력·재검증하는 구조로는 오류(ANc·Vb 등)가 반복 발생해도 발견이 어렵다</a:t>
            </a:r>
            <a:endParaRPr lang="en-US" sz="1300" dirty="0"/>
          </a:p>
          <a:p>
            <a:pPr marL="342900" indent="-342900">
              <a:lnSpc>
                <a:spcPct val="125000"/>
              </a:lnSpc>
              <a:spcAft>
                <a:spcPts val="1400"/>
              </a:spcAft>
              <a:buSzPct val="100000"/>
              <a:buChar char="●"/>
            </a:pPr>
            <a:r>
              <a:rPr lang="en-US" sz="1300" dirty="0">
                <a:solidFill>
                  <a:srgbClr val="DCE9F6"/>
                </a:solidFill>
                <a:latin typeface="맑은 고딕" pitchFamily="34" charset="0"/>
                <a:ea typeface="맑은 고딕" pitchFamily="34" charset="-122"/>
                <a:cs typeface="맑은 고딕" pitchFamily="34" charset="-120"/>
              </a:rPr>
              <a:t>검토 근거(입력조건·중간산정값)가 여러 파일에 흩어져 있어 감사·재사용이 어렵다</a:t>
            </a:r>
            <a:endParaRPr lang="en-US" sz="1300" dirty="0"/>
          </a:p>
          <a:p>
            <a:pPr marL="342900" indent="-342900">
              <a:lnSpc>
                <a:spcPct val="125000"/>
              </a:lnSpc>
              <a:spcAft>
                <a:spcPts val="1400"/>
              </a:spcAft>
              <a:buSzPct val="100000"/>
              <a:buChar char="●"/>
            </a:pPr>
            <a:r>
              <a:rPr lang="en-US" sz="1300" dirty="0">
                <a:solidFill>
                  <a:srgbClr val="DCE9F6"/>
                </a:solidFill>
                <a:latin typeface="맑은 고딕" pitchFamily="34" charset="0"/>
                <a:ea typeface="맑은 고딕" pitchFamily="34" charset="-122"/>
                <a:cs typeface="맑은 고딕" pitchFamily="34" charset="-120"/>
              </a:rPr>
              <a:t>제조사 데이터(Hilti 등) 연동, PEDAS 등 상위 시스템과의 Input 자동연동은 Excel 구조로는 사실상 불가능</a:t>
            </a:r>
            <a:endParaRPr lang="en-US" sz="1300" dirty="0"/>
          </a:p>
        </p:txBody>
      </p:sp>
      <p:sp>
        <p:nvSpPr>
          <p:cNvPr id="5" name="Shape 3"/>
          <p:cNvSpPr/>
          <p:nvPr/>
        </p:nvSpPr>
        <p:spPr>
          <a:xfrm>
            <a:off x="548640" y="4343400"/>
            <a:ext cx="11064240" cy="1691640"/>
          </a:xfrm>
          <a:prstGeom prst="rect">
            <a:avLst/>
          </a:prstGeom>
          <a:solidFill>
            <a:srgbClr val="0B1B33"/>
          </a:solidFill>
          <a:ln w="12700">
            <a:solidFill>
              <a:srgbClr val="2C4468"/>
            </a:solidFill>
            <a:prstDash val="solid"/>
          </a:ln>
        </p:spPr>
      </p:sp>
      <p:sp>
        <p:nvSpPr>
          <p:cNvPr id="6" name="Text 4"/>
          <p:cNvSpPr/>
          <p:nvPr/>
        </p:nvSpPr>
        <p:spPr>
          <a:xfrm>
            <a:off x="822960" y="4526280"/>
            <a:ext cx="5486400" cy="292608"/>
          </a:xfrm>
          <a:prstGeom prst="rect">
            <a:avLst/>
          </a:prstGeom>
          <a:noFill/>
          <a:ln/>
        </p:spPr>
        <p:txBody>
          <a:bodyPr wrap="square" rtlCol="0" anchor="ctr"/>
          <a:lstStyle/>
          <a:p>
            <a:pPr indent="0" marL="0">
              <a:buNone/>
            </a:pPr>
            <a:r>
              <a:rPr lang="en-US" sz="1200" b="1" dirty="0">
                <a:solidFill>
                  <a:srgbClr val="C9A227"/>
                </a:solidFill>
                <a:latin typeface="맑은 고딕" pitchFamily="34" charset="0"/>
                <a:ea typeface="맑은 고딕" pitchFamily="34" charset="-122"/>
                <a:cs typeface="맑은 고딕" pitchFamily="34" charset="-120"/>
              </a:rPr>
              <a:t>Design Module Committee 결론</a:t>
            </a:r>
            <a:endParaRPr lang="en-US" sz="1200" dirty="0"/>
          </a:p>
        </p:txBody>
      </p:sp>
      <p:sp>
        <p:nvSpPr>
          <p:cNvPr id="7" name="Text 5"/>
          <p:cNvSpPr/>
          <p:nvPr/>
        </p:nvSpPr>
        <p:spPr>
          <a:xfrm>
            <a:off x="822960" y="4892040"/>
            <a:ext cx="10515600" cy="1051560"/>
          </a:xfrm>
          <a:prstGeom prst="rect">
            <a:avLst/>
          </a:prstGeom>
          <a:noFill/>
          <a:ln/>
        </p:spPr>
        <p:txBody>
          <a:bodyPr wrap="square" rtlCol="0" anchor="ctr"/>
          <a:lstStyle/>
          <a:p>
            <a:pPr indent="0" marL="0">
              <a:lnSpc>
                <a:spcPct val="135000"/>
              </a:lnSpc>
              <a:buNone/>
            </a:pPr>
            <a:r>
              <a:rPr lang="en-US" sz="1250" dirty="0">
                <a:solidFill>
                  <a:srgbClr val="FFFFFF"/>
                </a:solidFill>
                <a:latin typeface="맑은 고딕" pitchFamily="34" charset="0"/>
                <a:ea typeface="맑은 고딕" pitchFamily="34" charset="-122"/>
                <a:cs typeface="맑은 고딕" pitchFamily="34" charset="-120"/>
              </a:rPr>
              <a:t>표준 검토 로직을 “프로그램(시스템)”에 고정하고, 필요 시 Input Data를 자동 연동하는 방식으로 전환한다.</a:t>
            </a:r>
            <a:endParaRPr lang="en-US" sz="1250" dirty="0"/>
          </a:p>
          <a:p>
            <a:pPr indent="0" marL="0">
              <a:lnSpc>
                <a:spcPct val="135000"/>
              </a:lnSpc>
              <a:buNone/>
            </a:pPr>
            <a:r>
              <a:rPr lang="en-US" sz="1250" dirty="0">
                <a:solidFill>
                  <a:srgbClr val="FFFFFF"/>
                </a:solidFill>
                <a:latin typeface="맑은 고딕" pitchFamily="34" charset="0"/>
                <a:ea typeface="맑은 고딕" pitchFamily="34" charset="-122"/>
                <a:cs typeface="맑은 고딕" pitchFamily="34" charset="-120"/>
              </a:rPr>
              <a:t>→ HTML 기반 계산 시스템을 표준 도구로 채택하고, 지속적으로 검증·개선한다.</a:t>
            </a:r>
            <a:endParaRPr lang="en-US" sz="1250" dirty="0"/>
          </a:p>
        </p:txBody>
      </p:sp>
      <p:sp>
        <p:nvSpPr>
          <p:cNvPr id="8" name="Text 6"/>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6E7EA0"/>
                </a:solidFill>
                <a:latin typeface="맑은 고딕" pitchFamily="34" charset="0"/>
                <a:ea typeface="맑은 고딕" pitchFamily="34" charset="-122"/>
                <a:cs typeface="맑은 고딕"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Excel/개별 계산서 대비 HTML 시스템의 강점</a:t>
            </a:r>
            <a:endParaRPr lang="en-US" sz="1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11338560" cy="914400"/>
        </p:xfrm>
        <a:graphic>
          <a:graphicData uri="http://schemas.openxmlformats.org/drawingml/2006/table">
            <a:tbl>
              <a:tblPr/>
              <a:tblGrid>
                <a:gridCol w="2377440"/>
                <a:gridCol w="4480560"/>
                <a:gridCol w="4480560"/>
              </a:tblGrid>
              <a:tr h="758952">
                <a:tc>
                  <a:txBody>
                    <a:bodyPr/>
                    <a:lstStyle/>
                    <a:p>
                      <a:pPr indent="0" marL="0">
                        <a:buNone/>
                      </a:pP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Excel / 개별 계산서</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HTML 계산 시스템</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결과 확인</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각 시트를 열어 O.K/N.G를 개별 확인</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8개 파괴모드를 1페이지 대시보드로 즉시 확인</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입력 감사(Audit)</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입력값이 여러 시트·셀에 분산</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입력조건을 단일 표로 자동 정리·PDF 고정</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형상 검증</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숫자만으로 배치 오류를 육안 확인 불가</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3D 등각뷰 + 2D 평면도로 형상을 실시간 시각 확인</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수식 오류 위험</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셀 참조·수식 복붙 시 인적 오류 상존</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동일 로직 1곳에서 관리 → 수정 시 전 프로젝트 동시 반영</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산출물</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PPT/PDF를 매번 수작업 편집</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PDF/Excel 계산서 One-Click 자동 생성</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758952">
                <a:tc>
                  <a:txBody>
                    <a:bodyP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확장성</a:t>
                      </a:r>
                      <a:endParaRPr lang="en-US" sz="105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5B6472"/>
                          </a:solidFill>
                          <a:latin typeface="맑은 고딕" pitchFamily="34" charset="0"/>
                          <a:ea typeface="맑은 고딕" pitchFamily="34" charset="-122"/>
                          <a:cs typeface="맑은 고딕" pitchFamily="34" charset="-120"/>
                        </a:rPr>
                        <a:t>제조사 데이터 반영 시 시트 재설계 필요</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맑은 고딕" pitchFamily="34" charset="0"/>
                          <a:ea typeface="맑은 고딕" pitchFamily="34" charset="-122"/>
                          <a:cs typeface="맑은 고딕" pitchFamily="34" charset="-120"/>
                        </a:rPr>
                        <a:t>카탈로그/프리셋 추가만으로 신규 제품 반영 가능</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bl>
          </a:graphicData>
        </a:graphic>
      </p:graphicFrame>
      <p:sp>
        <p:nvSpPr>
          <p:cNvPr id="5" name="Text 2"/>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6" name="Text 3"/>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정밀 비교 — 왜 HTML과 Excel의 인장값이 다른가</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TC2C 실제 지오메트리·하중을 두 방식에 동일 대입하여 근본 원인을 특정</a:t>
            </a:r>
            <a:endParaRPr lang="en-US" sz="1150" dirty="0"/>
          </a:p>
        </p:txBody>
      </p:sp>
      <p:pic>
        <p:nvPicPr>
          <p:cNvPr id="5" name="Image 0" descr="/home/claude/work3/ref_slide7.png">    </p:cNvPr>
          <p:cNvPicPr>
            <a:picLocks noChangeAspect="1"/>
          </p:cNvPicPr>
          <p:nvPr/>
        </p:nvPicPr>
        <p:blipFill>
          <a:blip r:embed="rId1"/>
          <a:stretch>
            <a:fillRect/>
          </a:stretch>
        </p:blipFill>
        <p:spPr>
          <a:xfrm>
            <a:off x="790956" y="1234440"/>
            <a:ext cx="10607040" cy="5638144"/>
          </a:xfrm>
          <a:prstGeom prst="rect">
            <a:avLst/>
          </a:prstGeom>
        </p:spPr>
      </p:pic>
      <p:sp>
        <p:nvSpPr>
          <p:cNvPr id="6" name="Text 3"/>
          <p:cNvSpPr/>
          <p:nvPr/>
        </p:nvSpPr>
        <p:spPr>
          <a:xfrm>
            <a:off x="411480" y="7009744"/>
            <a:ext cx="11247120" cy="274320"/>
          </a:xfrm>
          <a:prstGeom prst="rect">
            <a:avLst/>
          </a:prstGeom>
          <a:noFill/>
          <a:ln/>
        </p:spPr>
        <p:txBody>
          <a:bodyPr wrap="square" rtlCol="0" anchor="ctr"/>
          <a:lstStyle/>
          <a:p>
            <a:pPr algn="ctr" indent="0" marL="0">
              <a:buNone/>
            </a:pPr>
            <a:r>
              <a:rPr lang="en-US" sz="850" i="1" dirty="0">
                <a:solidFill>
                  <a:srgbClr val="5B6472"/>
                </a:solidFill>
                <a:latin typeface="맑은 고딕" pitchFamily="34" charset="0"/>
                <a:ea typeface="맑은 고딕" pitchFamily="34" charset="-122"/>
                <a:cs typeface="맑은 고딕" pitchFamily="34" charset="-120"/>
              </a:rPr>
              <a:t>근거: AISC Design Guide 1(2nd Ed.) Appendix B — Large Eccentricity(Triangular Distribution) Method / ACI 318-19 §17.6.2.3 ψec,N</a:t>
            </a:r>
            <a:endParaRPr lang="en-US" sz="850" dirty="0"/>
          </a:p>
        </p:txBody>
      </p:sp>
      <p:sp>
        <p:nvSpPr>
          <p:cNvPr id="7" name="Text 4"/>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8" name="Text 5"/>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HTML의 강점 — 볼트군(Bolt Group)에 대한 범용 계산</a:t>
            </a:r>
            <a:endParaRPr lang="en-US" sz="1900" dirty="0"/>
          </a:p>
        </p:txBody>
      </p:sp>
      <p:sp>
        <p:nvSpPr>
          <p:cNvPr id="4" name="Shape 2"/>
          <p:cNvSpPr/>
          <p:nvPr/>
        </p:nvSpPr>
        <p:spPr>
          <a:xfrm>
            <a:off x="411480" y="1051560"/>
            <a:ext cx="5577840" cy="2103120"/>
          </a:xfrm>
          <a:prstGeom prst="rect">
            <a:avLst/>
          </a:prstGeom>
          <a:solidFill>
            <a:srgbClr val="FFFFFF"/>
          </a:solidFill>
          <a:ln w="12700">
            <a:solidFill>
              <a:srgbClr val="DCD9D2"/>
            </a:solidFill>
            <a:prstDash val="solid"/>
          </a:ln>
        </p:spPr>
      </p:sp>
      <p:sp>
        <p:nvSpPr>
          <p:cNvPr id="5" name="Shape 3"/>
          <p:cNvSpPr/>
          <p:nvPr/>
        </p:nvSpPr>
        <p:spPr>
          <a:xfrm>
            <a:off x="640080" y="1252728"/>
            <a:ext cx="384048" cy="384048"/>
          </a:xfrm>
          <a:prstGeom prst="ellipse">
            <a:avLst/>
          </a:prstGeom>
          <a:solidFill>
            <a:srgbClr val="C9A227"/>
          </a:solidFill>
          <a:ln/>
        </p:spPr>
      </p:sp>
      <p:sp>
        <p:nvSpPr>
          <p:cNvPr id="6" name="Text 4"/>
          <p:cNvSpPr/>
          <p:nvPr/>
        </p:nvSpPr>
        <p:spPr>
          <a:xfrm>
            <a:off x="640080" y="1252728"/>
            <a:ext cx="384048" cy="38404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7" name="Text 5"/>
          <p:cNvSpPr/>
          <p:nvPr/>
        </p:nvSpPr>
        <p:spPr>
          <a:xfrm>
            <a:off x="1188720" y="1252728"/>
            <a:ext cx="4572000" cy="45720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고정 X/Y Case가 아닌 실제 합력방향</a:t>
            </a:r>
            <a:endParaRPr lang="en-US" sz="1250" dirty="0"/>
          </a:p>
        </p:txBody>
      </p:sp>
      <p:sp>
        <p:nvSpPr>
          <p:cNvPr id="8" name="Text 6"/>
          <p:cNvSpPr/>
          <p:nvPr/>
        </p:nvSpPr>
        <p:spPr>
          <a:xfrm>
            <a:off x="685800" y="1828800"/>
            <a:ext cx="5074920" cy="1188720"/>
          </a:xfrm>
          <a:prstGeom prst="rect">
            <a:avLst/>
          </a:prstGeom>
          <a:noFill/>
          <a:ln/>
        </p:spPr>
        <p:txBody>
          <a:bodyPr wrap="square" rtlCol="0" anchor="ctr"/>
          <a:lstStyle/>
          <a:p>
            <a:pPr indent="0" marL="0">
              <a:lnSpc>
                <a:spcPct val="125000"/>
              </a:lnSpc>
              <a:buNone/>
            </a:pPr>
            <a:r>
              <a:rPr lang="en-US" sz="970" dirty="0">
                <a:solidFill>
                  <a:srgbClr val="5B6472"/>
                </a:solidFill>
                <a:latin typeface="맑은 고딕" pitchFamily="34" charset="0"/>
                <a:ea typeface="맑은 고딕" pitchFamily="34" charset="-122"/>
                <a:cs typeface="맑은 고딕" pitchFamily="34" charset="-120"/>
              </a:rPr>
              <a:t>Mu=√(Mx²+My²) 실제 합력모멘트 방향 기준으로 중립축을 반복계산 — 축을 미리 정해두고 계산하는 방식이 아니라 하중이 어느 방향이든 동일 로직으로 대응</a:t>
            </a:r>
            <a:endParaRPr lang="en-US" sz="970" dirty="0"/>
          </a:p>
        </p:txBody>
      </p:sp>
      <p:sp>
        <p:nvSpPr>
          <p:cNvPr id="9" name="Shape 7"/>
          <p:cNvSpPr/>
          <p:nvPr/>
        </p:nvSpPr>
        <p:spPr>
          <a:xfrm>
            <a:off x="6172200" y="1051560"/>
            <a:ext cx="5577840" cy="2103120"/>
          </a:xfrm>
          <a:prstGeom prst="rect">
            <a:avLst/>
          </a:prstGeom>
          <a:solidFill>
            <a:srgbClr val="FFFFFF"/>
          </a:solidFill>
          <a:ln w="12700">
            <a:solidFill>
              <a:srgbClr val="DCD9D2"/>
            </a:solidFill>
            <a:prstDash val="solid"/>
          </a:ln>
        </p:spPr>
      </p:sp>
      <p:sp>
        <p:nvSpPr>
          <p:cNvPr id="10" name="Shape 8"/>
          <p:cNvSpPr/>
          <p:nvPr/>
        </p:nvSpPr>
        <p:spPr>
          <a:xfrm>
            <a:off x="6400800" y="1252728"/>
            <a:ext cx="384048" cy="384048"/>
          </a:xfrm>
          <a:prstGeom prst="ellipse">
            <a:avLst/>
          </a:prstGeom>
          <a:solidFill>
            <a:srgbClr val="C9A227"/>
          </a:solidFill>
          <a:ln/>
        </p:spPr>
      </p:sp>
      <p:sp>
        <p:nvSpPr>
          <p:cNvPr id="11" name="Text 9"/>
          <p:cNvSpPr/>
          <p:nvPr/>
        </p:nvSpPr>
        <p:spPr>
          <a:xfrm>
            <a:off x="6400800" y="1252728"/>
            <a:ext cx="384048" cy="38404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2" name="Text 10"/>
          <p:cNvSpPr/>
          <p:nvPr/>
        </p:nvSpPr>
        <p:spPr>
          <a:xfrm>
            <a:off x="6949440" y="1252728"/>
            <a:ext cx="4572000" cy="45720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편심(e'N, e'V) 자동 반영</a:t>
            </a:r>
            <a:endParaRPr lang="en-US" sz="1250" dirty="0"/>
          </a:p>
        </p:txBody>
      </p:sp>
      <p:sp>
        <p:nvSpPr>
          <p:cNvPr id="13" name="Text 11"/>
          <p:cNvSpPr/>
          <p:nvPr/>
        </p:nvSpPr>
        <p:spPr>
          <a:xfrm>
            <a:off x="6446520" y="1828800"/>
            <a:ext cx="5074920" cy="1188720"/>
          </a:xfrm>
          <a:prstGeom prst="rect">
            <a:avLst/>
          </a:prstGeom>
          <a:noFill/>
          <a:ln/>
        </p:spPr>
        <p:txBody>
          <a:bodyPr wrap="square" rtlCol="0" anchor="ctr"/>
          <a:lstStyle/>
          <a:p>
            <a:pPr indent="0" marL="0">
              <a:lnSpc>
                <a:spcPct val="125000"/>
              </a:lnSpc>
              <a:buNone/>
            </a:pPr>
            <a:r>
              <a:rPr lang="en-US" sz="970" dirty="0">
                <a:solidFill>
                  <a:srgbClr val="5B6472"/>
                </a:solidFill>
                <a:latin typeface="맑은 고딕" pitchFamily="34" charset="0"/>
                <a:ea typeface="맑은 고딕" pitchFamily="34" charset="-122"/>
                <a:cs typeface="맑은 고딕" pitchFamily="34" charset="-120"/>
              </a:rPr>
              <a:t>인장측 앵커군의 실제 도심과 합력 작용점 차이(e_N)를 매 계산마다 자동 산출 — Excel처럼 편심을 0으로 가정하고 넘어가지 않음</a:t>
            </a:r>
            <a:endParaRPr lang="en-US" sz="970" dirty="0"/>
          </a:p>
        </p:txBody>
      </p:sp>
      <p:sp>
        <p:nvSpPr>
          <p:cNvPr id="14" name="Shape 12"/>
          <p:cNvSpPr/>
          <p:nvPr/>
        </p:nvSpPr>
        <p:spPr>
          <a:xfrm>
            <a:off x="411480" y="3337560"/>
            <a:ext cx="5577840" cy="2103120"/>
          </a:xfrm>
          <a:prstGeom prst="rect">
            <a:avLst/>
          </a:prstGeom>
          <a:solidFill>
            <a:srgbClr val="FFFFFF"/>
          </a:solidFill>
          <a:ln w="12700">
            <a:solidFill>
              <a:srgbClr val="DCD9D2"/>
            </a:solidFill>
            <a:prstDash val="solid"/>
          </a:ln>
        </p:spPr>
      </p:sp>
      <p:sp>
        <p:nvSpPr>
          <p:cNvPr id="15" name="Shape 13"/>
          <p:cNvSpPr/>
          <p:nvPr/>
        </p:nvSpPr>
        <p:spPr>
          <a:xfrm>
            <a:off x="640080" y="3538728"/>
            <a:ext cx="384048" cy="384048"/>
          </a:xfrm>
          <a:prstGeom prst="ellipse">
            <a:avLst/>
          </a:prstGeom>
          <a:solidFill>
            <a:srgbClr val="C9A227"/>
          </a:solidFill>
          <a:ln/>
        </p:spPr>
      </p:sp>
      <p:sp>
        <p:nvSpPr>
          <p:cNvPr id="16" name="Text 14"/>
          <p:cNvSpPr/>
          <p:nvPr/>
        </p:nvSpPr>
        <p:spPr>
          <a:xfrm>
            <a:off x="640080" y="3538728"/>
            <a:ext cx="384048" cy="38404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7" name="Text 15"/>
          <p:cNvSpPr/>
          <p:nvPr/>
        </p:nvSpPr>
        <p:spPr>
          <a:xfrm>
            <a:off x="1188720" y="3538728"/>
            <a:ext cx="4572000" cy="45720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그룹 투영면적(ANc·AVc) 자동 산정</a:t>
            </a:r>
            <a:endParaRPr lang="en-US" sz="1250" dirty="0"/>
          </a:p>
        </p:txBody>
      </p:sp>
      <p:sp>
        <p:nvSpPr>
          <p:cNvPr id="18" name="Text 16"/>
          <p:cNvSpPr/>
          <p:nvPr/>
        </p:nvSpPr>
        <p:spPr>
          <a:xfrm>
            <a:off x="685800" y="4114800"/>
            <a:ext cx="5074920" cy="1188720"/>
          </a:xfrm>
          <a:prstGeom prst="rect">
            <a:avLst/>
          </a:prstGeom>
          <a:noFill/>
          <a:ln/>
        </p:spPr>
        <p:txBody>
          <a:bodyPr wrap="square" rtlCol="0" anchor="ctr"/>
          <a:lstStyle/>
          <a:p>
            <a:pPr indent="0" marL="0">
              <a:lnSpc>
                <a:spcPct val="125000"/>
              </a:lnSpc>
              <a:buNone/>
            </a:pPr>
            <a:r>
              <a:rPr lang="en-US" sz="970" dirty="0">
                <a:solidFill>
                  <a:srgbClr val="5B6472"/>
                </a:solidFill>
                <a:latin typeface="맑은 고딕" pitchFamily="34" charset="0"/>
                <a:ea typeface="맑은 고딕" pitchFamily="34" charset="-122"/>
                <a:cs typeface="맑은 고딕" pitchFamily="34" charset="-120"/>
              </a:rPr>
              <a:t>원형/팔각형 배치의 실제 환상면적을 앵커 개수·BCD·연단거리로부터 자동 계산 — 배치가 바뀌어도 시트 재설계 불필요</a:t>
            </a:r>
            <a:endParaRPr lang="en-US" sz="970" dirty="0"/>
          </a:p>
        </p:txBody>
      </p:sp>
      <p:sp>
        <p:nvSpPr>
          <p:cNvPr id="19" name="Shape 17"/>
          <p:cNvSpPr/>
          <p:nvPr/>
        </p:nvSpPr>
        <p:spPr>
          <a:xfrm>
            <a:off x="6172200" y="3337560"/>
            <a:ext cx="5577840" cy="2103120"/>
          </a:xfrm>
          <a:prstGeom prst="rect">
            <a:avLst/>
          </a:prstGeom>
          <a:solidFill>
            <a:srgbClr val="FFFFFF"/>
          </a:solidFill>
          <a:ln w="12700">
            <a:solidFill>
              <a:srgbClr val="DCD9D2"/>
            </a:solidFill>
            <a:prstDash val="solid"/>
          </a:ln>
        </p:spPr>
      </p:sp>
      <p:sp>
        <p:nvSpPr>
          <p:cNvPr id="20" name="Shape 18"/>
          <p:cNvSpPr/>
          <p:nvPr/>
        </p:nvSpPr>
        <p:spPr>
          <a:xfrm>
            <a:off x="6400800" y="3538728"/>
            <a:ext cx="384048" cy="384048"/>
          </a:xfrm>
          <a:prstGeom prst="ellipse">
            <a:avLst/>
          </a:prstGeom>
          <a:solidFill>
            <a:srgbClr val="C9A227"/>
          </a:solidFill>
          <a:ln/>
        </p:spPr>
      </p:sp>
      <p:sp>
        <p:nvSpPr>
          <p:cNvPr id="21" name="Text 19"/>
          <p:cNvSpPr/>
          <p:nvPr/>
        </p:nvSpPr>
        <p:spPr>
          <a:xfrm>
            <a:off x="6400800" y="3538728"/>
            <a:ext cx="384048" cy="38404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22" name="Text 20"/>
          <p:cNvSpPr/>
          <p:nvPr/>
        </p:nvSpPr>
        <p:spPr>
          <a:xfrm>
            <a:off x="6949440" y="3538728"/>
            <a:ext cx="4572000" cy="457200"/>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임의 배치로 확장 가능한 구조</a:t>
            </a:r>
            <a:endParaRPr lang="en-US" sz="1250" dirty="0"/>
          </a:p>
        </p:txBody>
      </p:sp>
      <p:sp>
        <p:nvSpPr>
          <p:cNvPr id="23" name="Text 21"/>
          <p:cNvSpPr/>
          <p:nvPr/>
        </p:nvSpPr>
        <p:spPr>
          <a:xfrm>
            <a:off x="6446520" y="4114800"/>
            <a:ext cx="5074920" cy="1188720"/>
          </a:xfrm>
          <a:prstGeom prst="rect">
            <a:avLst/>
          </a:prstGeom>
          <a:noFill/>
          <a:ln/>
        </p:spPr>
        <p:txBody>
          <a:bodyPr wrap="square" rtlCol="0" anchor="ctr"/>
          <a:lstStyle/>
          <a:p>
            <a:pPr indent="0" marL="0">
              <a:lnSpc>
                <a:spcPct val="125000"/>
              </a:lnSpc>
              <a:buNone/>
            </a:pPr>
            <a:r>
              <a:rPr lang="en-US" sz="970" dirty="0">
                <a:solidFill>
                  <a:srgbClr val="5B6472"/>
                </a:solidFill>
                <a:latin typeface="맑은 고딕" pitchFamily="34" charset="0"/>
                <a:ea typeface="맑은 고딕" pitchFamily="34" charset="-122"/>
                <a:cs typeface="맑은 고딕" pitchFamily="34" charset="-120"/>
              </a:rPr>
              <a:t>현재는 원형(BCD) 배치 전용이지만, 앵커 좌표 배열 기반으로 설계되어 있어 향후 비대칭·불규칙 볼트군으로 확장 가능한 아키텍처</a:t>
            </a:r>
            <a:endParaRPr lang="en-US" sz="970" dirty="0"/>
          </a:p>
        </p:txBody>
      </p:sp>
      <p:sp>
        <p:nvSpPr>
          <p:cNvPr id="24" name="Text 22"/>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25" name="Text 23"/>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TC2C 계산서와 HTML 검증결과</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00" b="1" dirty="0">
                <a:solidFill>
                  <a:srgbClr val="1F2430"/>
                </a:solidFill>
                <a:latin typeface="맑은 고딕" pitchFamily="34" charset="0"/>
                <a:ea typeface="맑은 고딕" pitchFamily="34" charset="-122"/>
                <a:cs typeface="맑은 고딕" pitchFamily="34" charset="-120"/>
              </a:rPr>
              <a:t>BCD=3668mm, D=4500mm, hef=1608mm, 24EA, f'c=24MPa (No-Collapse LC223 조건)</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38560" cy="914400"/>
        </p:xfrm>
        <a:graphic>
          <a:graphicData uri="http://schemas.openxmlformats.org/drawingml/2006/table">
            <a:tbl>
              <a:tblPr/>
              <a:tblGrid>
                <a:gridCol w="3931920"/>
                <a:gridCol w="2468880"/>
                <a:gridCol w="2468880"/>
                <a:gridCol w="2468880"/>
              </a:tblGrid>
              <a:tr h="56692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항목</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TC2C 계산서</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HTML 도구</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일치 여부</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r>
              <a:tr h="566928">
                <a:tc>
                  <a:txBody>
                    <a:bodyPr/>
                    <a:lstStyle/>
                    <a:p>
                      <a:pPr indent="0" marL="0">
                        <a:buNone/>
                      </a:pPr>
                      <a:r>
                        <a:rPr lang="en-US" sz="1100" b="1" dirty="0">
                          <a:solidFill>
                            <a:srgbClr val="1F2430"/>
                          </a:solidFill>
                          <a:latin typeface="맑은 고딕" pitchFamily="34" charset="0"/>
                          <a:ea typeface="맑은 고딕" pitchFamily="34" charset="-122"/>
                          <a:cs typeface="맑은 고딕" pitchFamily="34" charset="-120"/>
                        </a:rPr>
                        <a:t>ANc (인장 투영면적)</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5,571,545 mm²</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5,571,545 mm²</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b="1" dirty="0">
                          <a:solidFill>
                            <a:srgbClr val="2E7D45"/>
                          </a:solidFill>
                          <a:latin typeface="맑은 고딕" pitchFamily="34" charset="0"/>
                          <a:ea typeface="맑은 고딕" pitchFamily="34" charset="-122"/>
                          <a:cs typeface="맑은 고딕" pitchFamily="34" charset="-120"/>
                        </a:rPr>
                        <a:t>일치</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66928">
                <a:tc>
                  <a:txBody>
                    <a:bodyPr/>
                    <a:lstStyle/>
                    <a:p>
                      <a:pPr indent="0" marL="0">
                        <a:buNone/>
                      </a:pPr>
                      <a:r>
                        <a:rPr lang="en-US" sz="1100" b="1" dirty="0">
                          <a:solidFill>
                            <a:srgbClr val="1F2430"/>
                          </a:solidFill>
                          <a:latin typeface="맑은 고딕" pitchFamily="34" charset="0"/>
                          <a:ea typeface="맑은 고딕" pitchFamily="34" charset="-122"/>
                          <a:cs typeface="맑은 고딕" pitchFamily="34" charset="-120"/>
                        </a:rPr>
                        <a:t>Vb (전단 기본강도)</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192.71 kN</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192.71 kN</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45"/>
                          </a:solidFill>
                          <a:latin typeface="맑은 고딕" pitchFamily="34" charset="0"/>
                          <a:ea typeface="맑은 고딕" pitchFamily="34" charset="-122"/>
                          <a:cs typeface="맑은 고딕" pitchFamily="34" charset="-120"/>
                        </a:rPr>
                        <a:t>일치</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1F2430"/>
                          </a:solidFill>
                          <a:latin typeface="맑은 고딕" pitchFamily="34" charset="0"/>
                          <a:ea typeface="맑은 고딕" pitchFamily="34" charset="-122"/>
                          <a:cs typeface="맑은 고딕" pitchFamily="34" charset="-120"/>
                        </a:rPr>
                        <a:t>AVc (전단 투영면적)</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3,263,625 mm²</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dirty="0">
                          <a:solidFill>
                            <a:srgbClr val="5B6472"/>
                          </a:solidFill>
                          <a:latin typeface="맑은 고딕" pitchFamily="34" charset="0"/>
                          <a:ea typeface="맑은 고딕" pitchFamily="34" charset="-122"/>
                          <a:cs typeface="맑은 고딕" pitchFamily="34" charset="-120"/>
                        </a:rPr>
                        <a:t>3,263,625 mm²</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1100" b="1" dirty="0">
                          <a:solidFill>
                            <a:srgbClr val="2E7D45"/>
                          </a:solidFill>
                          <a:latin typeface="맑은 고딕" pitchFamily="34" charset="0"/>
                          <a:ea typeface="맑은 고딕" pitchFamily="34" charset="-122"/>
                          <a:cs typeface="맑은 고딕" pitchFamily="34" charset="-120"/>
                        </a:rPr>
                        <a:t>일치</a:t>
                      </a:r>
                      <a:endParaRPr lang="en-US" sz="11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bl>
          </a:graphicData>
        </a:graphic>
      </p:graphicFrame>
      <p:sp>
        <p:nvSpPr>
          <p:cNvPr id="6" name="Shape 3"/>
          <p:cNvSpPr/>
          <p:nvPr/>
        </p:nvSpPr>
        <p:spPr>
          <a:xfrm>
            <a:off x="411480" y="3520440"/>
            <a:ext cx="11338560" cy="1554480"/>
          </a:xfrm>
          <a:prstGeom prst="rect">
            <a:avLst/>
          </a:prstGeom>
          <a:solidFill>
            <a:srgbClr val="F0EEEA"/>
          </a:solidFill>
          <a:ln w="12700">
            <a:solidFill>
              <a:srgbClr val="DCD9D2"/>
            </a:solidFill>
            <a:prstDash val="solid"/>
          </a:ln>
        </p:spPr>
      </p:sp>
      <p:sp>
        <p:nvSpPr>
          <p:cNvPr id="7" name="Text 4"/>
          <p:cNvSpPr/>
          <p:nvPr/>
        </p:nvSpPr>
        <p:spPr>
          <a:xfrm>
            <a:off x="685800" y="3657600"/>
            <a:ext cx="3657600" cy="274320"/>
          </a:xfrm>
          <a:prstGeom prst="rect">
            <a:avLst/>
          </a:prstGeom>
          <a:noFill/>
          <a:ln/>
        </p:spPr>
        <p:txBody>
          <a:bodyPr wrap="square" rtlCol="0" anchor="ctr"/>
          <a:lstStyle/>
          <a:p>
            <a:pPr indent="0" marL="0">
              <a:buNone/>
            </a:pPr>
            <a:r>
              <a:rPr lang="en-US" sz="1150" b="1" dirty="0">
                <a:solidFill>
                  <a:srgbClr val="13294B"/>
                </a:solidFill>
                <a:latin typeface="맑은 고딕" pitchFamily="34" charset="0"/>
                <a:ea typeface="맑은 고딕" pitchFamily="34" charset="-122"/>
                <a:cs typeface="맑은 고딕" pitchFamily="34" charset="-120"/>
              </a:rPr>
              <a:t>검증 방법</a:t>
            </a:r>
            <a:endParaRPr lang="en-US" sz="1150" dirty="0"/>
          </a:p>
        </p:txBody>
      </p:sp>
      <p:sp>
        <p:nvSpPr>
          <p:cNvPr id="8" name="Text 5"/>
          <p:cNvSpPr/>
          <p:nvPr/>
        </p:nvSpPr>
        <p:spPr>
          <a:xfrm>
            <a:off x="685800" y="3977640"/>
            <a:ext cx="10789920" cy="1005840"/>
          </a:xfrm>
          <a:prstGeom prst="rect">
            <a:avLst/>
          </a:prstGeom>
          <a:noFill/>
          <a:ln/>
        </p:spPr>
        <p:txBody>
          <a:bodyPr wrap="square" rtlCol="0" anchor="ctr"/>
          <a:lstStyle/>
          <a:p>
            <a:pPr indent="0" marL="0">
              <a:lnSpc>
                <a:spcPct val="130000"/>
              </a:lnSpc>
              <a:buNone/>
            </a:pPr>
            <a:r>
              <a:rPr lang="en-US" sz="1000" dirty="0">
                <a:solidFill>
                  <a:srgbClr val="5B6472"/>
                </a:solidFill>
                <a:latin typeface="맑은 고딕" pitchFamily="34" charset="0"/>
                <a:ea typeface="맑은 고딕" pitchFamily="34" charset="-122"/>
                <a:cs typeface="맑은 고딕" pitchFamily="34" charset="-120"/>
              </a:rPr>
              <a:t>TC2C 실제 프로젝트 수치를 HTML 소스코드에 직접 대입하여 Node.js 환경에서 재계산 후, 계산서 원문의 산정값과 자릿수 단위로 대조하였다. 핵심 산정식(ANc, Vb, AVc) 모두 TC2C 문서값과 완전히 일치함을 확인하였다(잔여 차이는 인장 분배방식·φ계수 가정 등 별도 정책 결정 사항 — 다음 슬라이드 참고).</a:t>
            </a:r>
            <a:endParaRPr lang="en-US" sz="1000" dirty="0"/>
          </a:p>
        </p:txBody>
      </p:sp>
      <p:sp>
        <p:nvSpPr>
          <p:cNvPr id="9" name="Text 6"/>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10" name="Text 7"/>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신규 기능: 전단키(Shear Lug) 검토 — ACI 318-19 §17.11</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Plate/Rib 직접 지압에 의한 전단저항 — ACI 318-19 원문(§17.11)을 기준으로 그대로 구현</a:t>
            </a:r>
            <a:endParaRPr lang="en-US" sz="1150" dirty="0"/>
          </a:p>
        </p:txBody>
      </p:sp>
      <p:pic>
        <p:nvPicPr>
          <p:cNvPr id="5" name="Image 0" descr="/home/claude/work3/ref_slide10.png">    </p:cNvPr>
          <p:cNvPicPr>
            <a:picLocks noChangeAspect="1"/>
          </p:cNvPicPr>
          <p:nvPr/>
        </p:nvPicPr>
        <p:blipFill>
          <a:blip r:embed="rId1"/>
          <a:stretch>
            <a:fillRect/>
          </a:stretch>
        </p:blipFill>
        <p:spPr>
          <a:xfrm>
            <a:off x="425196" y="1188720"/>
            <a:ext cx="11338560" cy="5300870"/>
          </a:xfrm>
          <a:prstGeom prst="rect">
            <a:avLst/>
          </a:prstGeom>
        </p:spPr>
      </p:pic>
      <p:sp>
        <p:nvSpPr>
          <p:cNvPr id="6" name="Text 3"/>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7" name="Text 4"/>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Rectangular 모듈 전수검증 결과</a:t>
            </a:r>
            <a:endParaRPr lang="en-US" sz="1900" dirty="0"/>
          </a:p>
        </p:txBody>
      </p:sp>
      <p:sp>
        <p:nvSpPr>
          <p:cNvPr id="4" name="Text 2"/>
          <p:cNvSpPr/>
          <p:nvPr/>
        </p:nvSpPr>
        <p:spPr>
          <a:xfrm>
            <a:off x="411480" y="777240"/>
            <a:ext cx="11247120" cy="292608"/>
          </a:xfrm>
          <a:prstGeom prst="rect">
            <a:avLst/>
          </a:prstGeom>
          <a:noFill/>
          <a:ln/>
        </p:spPr>
        <p:txBody>
          <a:bodyPr wrap="square" rtlCol="0" anchor="ctr"/>
          <a:lstStyle/>
          <a:p>
            <a:pPr indent="0" marL="0">
              <a:buNone/>
            </a:pPr>
            <a:r>
              <a:rPr lang="en-US" sz="1150" dirty="0">
                <a:solidFill>
                  <a:srgbClr val="1F2430"/>
                </a:solidFill>
                <a:latin typeface="맑은 고딕" pitchFamily="34" charset="0"/>
                <a:ea typeface="맑은 고딕" pitchFamily="34" charset="-122"/>
                <a:cs typeface="맑은 고딕" pitchFamily="34" charset="-120"/>
              </a:rPr>
              <a:t>사각 페데스탈 + 격자 앵커 배치 모듈 — 별도 계보(fork)로 발전된 소스 약 3,000줄을 처음부터 끝까지 확인</a:t>
            </a:r>
            <a:endParaRPr lang="en-US" sz="1150" dirty="0"/>
          </a:p>
        </p:txBody>
      </p:sp>
      <p:sp>
        <p:nvSpPr>
          <p:cNvPr id="5" name="Shape 3"/>
          <p:cNvSpPr/>
          <p:nvPr/>
        </p:nvSpPr>
        <p:spPr>
          <a:xfrm>
            <a:off x="411480" y="1188720"/>
            <a:ext cx="11338560" cy="658368"/>
          </a:xfrm>
          <a:prstGeom prst="rect">
            <a:avLst/>
          </a:prstGeom>
          <a:solidFill>
            <a:srgbClr val="EAF3EC"/>
          </a:solidFill>
          <a:ln w="13970">
            <a:solidFill>
              <a:srgbClr val="2E7D45"/>
            </a:solidFill>
            <a:prstDash val="solid"/>
          </a:ln>
        </p:spPr>
      </p:sp>
      <p:sp>
        <p:nvSpPr>
          <p:cNvPr id="6" name="Text 4"/>
          <p:cNvSpPr/>
          <p:nvPr/>
        </p:nvSpPr>
        <p:spPr>
          <a:xfrm>
            <a:off x="640080" y="1188720"/>
            <a:ext cx="10881360" cy="658368"/>
          </a:xfrm>
          <a:prstGeom prst="rect">
            <a:avLst/>
          </a:prstGeom>
          <a:noFill/>
          <a:ln/>
        </p:spPr>
        <p:txBody>
          <a:bodyPr wrap="square" rtlCol="0" anchor="ctr"/>
          <a:lstStyle/>
          <a:p>
            <a:pPr indent="0" marL="0">
              <a:buNone/>
            </a:pPr>
            <a:r>
              <a:rPr lang="en-US" sz="1250" b="1" dirty="0">
                <a:solidFill>
                  <a:srgbClr val="2E7D45"/>
                </a:solidFill>
                <a:latin typeface="맑은 고딕" pitchFamily="34" charset="0"/>
                <a:ea typeface="맑은 고딕" pitchFamily="34" charset="-122"/>
                <a:cs typeface="맑은 고딕" pitchFamily="34" charset="-120"/>
              </a:rPr>
              <a:t>✔  Rectangular는 v4 스펙(중립축 반복계산 + 콘크리트 압축모멘트 포함 + 정확한 부호)을 이미 정확히 구현하고 있음을 확인</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2011680"/>
          <a:ext cx="11338560" cy="914400"/>
        </p:xfrm>
        <a:graphic>
          <a:graphicData uri="http://schemas.openxmlformats.org/drawingml/2006/table">
            <a:tbl>
              <a:tblPr/>
              <a:tblGrid>
                <a:gridCol w="4114800"/>
                <a:gridCol w="1920240"/>
                <a:gridCol w="5303520"/>
              </a:tblGrid>
              <a:tr h="365760">
                <a:tc>
                  <a:txBody>
                    <a:bodyP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검증 항목</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결과</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c>
                  <a:txBody>
                    <a:bodyP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13294B"/>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중립축 반복계산 (콘크리트 모멘트 C·dc 포함)</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80" b="1" dirty="0">
                          <a:solidFill>
                            <a:srgbClr val="2E7D45"/>
                          </a:solidFill>
                          <a:latin typeface="맑은 고딕" pitchFamily="34" charset="0"/>
                          <a:ea typeface="맑은 고딕" pitchFamily="34" charset="-122"/>
                          <a:cs typeface="맑은 고딕" pitchFamily="34" charset="-120"/>
                        </a:rPr>
                        <a:t>정확</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이분법 반복계산, MC0=C0·|qC| 포함 — v4 스펙과 동일 구조</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부호 규칙 (+My → x&lt;c 인장 / x&gt;c 압축)</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80" b="1" dirty="0">
                          <a:solidFill>
                            <a:srgbClr val="2E7D45"/>
                          </a:solidFill>
                          <a:latin typeface="맑은 고딕" pitchFamily="34" charset="0"/>
                          <a:ea typeface="맑은 고딕" pitchFamily="34" charset="-122"/>
                          <a:cs typeface="맑은 고딕" pitchFamily="34" charset="-120"/>
                        </a:rPr>
                        <a:t>정확 (처음부터)</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Octagonal에 있었던 부호반전 버그가 Rectangular엔 없었음</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인장/전단 전 파괴모드 (T1~T5, V1~V3)</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80" b="1" dirty="0">
                          <a:solidFill>
                            <a:srgbClr val="2E7D45"/>
                          </a:solidFill>
                          <a:latin typeface="맑은 고딕" pitchFamily="34" charset="0"/>
                          <a:ea typeface="맑은 고딕" pitchFamily="34" charset="-122"/>
                          <a:cs typeface="맑은 고딕" pitchFamily="34" charset="-120"/>
                        </a:rPr>
                        <a:t>정확</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ACI §17.6·§17.7 전 조항 및 §17.8 강도조합(20%룰)까지 일치</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Adhesive Bond (§17.6.5)</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80" b="1" dirty="0">
                          <a:solidFill>
                            <a:srgbClr val="2E7D45"/>
                          </a:solidFill>
                          <a:latin typeface="맑은 고딕" pitchFamily="34" charset="0"/>
                          <a:ea typeface="맑은 고딕" pitchFamily="34" charset="-122"/>
                          <a:cs typeface="맑은 고딕" pitchFamily="34" charset="-120"/>
                        </a:rPr>
                        <a:t>정확 · 상세</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Octagonal보다 상세 구현 — cNa/ψec,Na 등 편심계수 분리 산정</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전단키 (§17.11)</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algn="ctr" indent="0" marL="0">
                        <a:buNone/>
                      </a:pPr>
                      <a:r>
                        <a:rPr lang="en-US" sz="980" b="1" dirty="0">
                          <a:solidFill>
                            <a:srgbClr val="3E6FB0"/>
                          </a:solidFill>
                          <a:latin typeface="맑은 고딕" pitchFamily="34" charset="0"/>
                          <a:ea typeface="맑은 고딕" pitchFamily="34" charset="-122"/>
                          <a:cs typeface="맑은 고딕" pitchFamily="34" charset="-120"/>
                        </a:rPr>
                        <a:t>미구현 → 이식 완료</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Octagonal v2.1 로직을 사각 페데스탈 기준(Ca1V/Ca2V)으로 변환 이식</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0EEEA"/>
                    </a:solidFill>
                  </a:tcPr>
                </a:tc>
              </a:tr>
              <a:tr h="530352">
                <a:tc>
                  <a:txBody>
                    <a:bodyPr/>
                    <a:lstStyle/>
                    <a:p>
                      <a:pPr indent="0" marL="0">
                        <a:buNone/>
                      </a:pPr>
                      <a:r>
                        <a:rPr lang="en-US" sz="980" dirty="0">
                          <a:solidFill>
                            <a:srgbClr val="1F2430"/>
                          </a:solidFill>
                          <a:latin typeface="맑은 고딕" pitchFamily="34" charset="0"/>
                          <a:ea typeface="맑은 고딕" pitchFamily="34" charset="-122"/>
                          <a:cs typeface="맑은 고딕" pitchFamily="34" charset="-120"/>
                        </a:rPr>
                        <a:t>PDF 표기 오류 2건 (Nsb, Vb1/Vb2 공식 문구)</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algn="ctr" indent="0" marL="0">
                        <a:buNone/>
                      </a:pPr>
                      <a:r>
                        <a:rPr lang="en-US" sz="980" b="1" dirty="0">
                          <a:solidFill>
                            <a:srgbClr val="2E7D45"/>
                          </a:solidFill>
                          <a:latin typeface="맑은 고딕" pitchFamily="34" charset="0"/>
                          <a:ea typeface="맑은 고딕" pitchFamily="34" charset="-122"/>
                          <a:cs typeface="맑은 고딕" pitchFamily="34" charset="-120"/>
                        </a:rPr>
                        <a:t>수정 완료</a:t>
                      </a:r>
                      <a:endParaRPr lang="en-US" sz="9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c>
                  <a:txBody>
                    <a:bodyPr/>
                    <a:lstStyle/>
                    <a:p>
                      <a:pPr indent="0" marL="0">
                        <a:buNone/>
                      </a:pPr>
                      <a:r>
                        <a:rPr lang="en-US" sz="880" dirty="0">
                          <a:solidFill>
                            <a:srgbClr val="5B6472"/>
                          </a:solidFill>
                          <a:latin typeface="맑은 고딕" pitchFamily="34" charset="0"/>
                          <a:ea typeface="맑은 고딕" pitchFamily="34" charset="-122"/>
                          <a:cs typeface="맑은 고딕" pitchFamily="34" charset="-120"/>
                        </a:rPr>
                        <a:t>계산값 자체는 정상이었음 — 감사 시 혼선 방지 위해 문구만 수정</a:t>
                      </a:r>
                      <a:endParaRPr lang="en-US" sz="880" dirty="0">
                        <a:latin typeface="맑은 고딕" charset="0"/>
                        <a:ea typeface="맑은 고딕" charset="0"/>
                        <a:cs typeface="맑은 고딕" charset="0"/>
                      </a:endParaRPr>
                    </a:p>
                  </a:txBody>
                  <a:tcPr marL="91440" marR="91440" marT="45720" marB="45720"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FFFFF"/>
                    </a:solidFill>
                  </a:tcPr>
                </a:tc>
              </a:tr>
            </a:tbl>
          </a:graphicData>
        </a:graphic>
      </p:graphicFrame>
      <p:sp>
        <p:nvSpPr>
          <p:cNvPr id="8" name="Text 5"/>
          <p:cNvSpPr/>
          <p:nvPr/>
        </p:nvSpPr>
        <p:spPr>
          <a:xfrm>
            <a:off x="411480" y="5577840"/>
            <a:ext cx="11338560" cy="365760"/>
          </a:xfrm>
          <a:prstGeom prst="rect">
            <a:avLst/>
          </a:prstGeom>
          <a:noFill/>
          <a:ln/>
        </p:spPr>
        <p:txBody>
          <a:bodyPr wrap="square" rtlCol="0" anchor="ctr"/>
          <a:lstStyle/>
          <a:p>
            <a:pPr indent="0" marL="0">
              <a:buNone/>
            </a:pPr>
            <a:r>
              <a:rPr lang="en-US" sz="950" i="1" dirty="0">
                <a:solidFill>
                  <a:srgbClr val="5B6472"/>
                </a:solidFill>
                <a:latin typeface="맑은 고딕" pitchFamily="34" charset="0"/>
                <a:ea typeface="맑은 고딕" pitchFamily="34" charset="-122"/>
                <a:cs typeface="맑은 고딕" pitchFamily="34" charset="-120"/>
              </a:rPr>
              <a:t>검증 방법: 20회에 걸쳐 전달된 소스 조각을 원 함수 순서대로 재조합 후, 계산 로직·화면 렌더링·PDF·Excel export 4개 경로를 교차 대조하여 일관된 결론을 확인</a:t>
            </a:r>
            <a:endParaRPr lang="en-US" sz="950" dirty="0"/>
          </a:p>
        </p:txBody>
      </p:sp>
      <p:sp>
        <p:nvSpPr>
          <p:cNvPr id="9" name="Text 6"/>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10" name="Text 7"/>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배치형태 통합설계 로드맵 — Rectangular ↔ Octagonal</a:t>
            </a:r>
            <a:endParaRPr lang="en-US" sz="1900" dirty="0"/>
          </a:p>
        </p:txBody>
      </p:sp>
      <p:sp>
        <p:nvSpPr>
          <p:cNvPr id="4" name="Text 2"/>
          <p:cNvSpPr/>
          <p:nvPr/>
        </p:nvSpPr>
        <p:spPr>
          <a:xfrm>
            <a:off x="411480" y="868680"/>
            <a:ext cx="5486400" cy="292608"/>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드롭다운 선택 구조 (제안)</a:t>
            </a:r>
            <a:endParaRPr lang="en-US" sz="1250" dirty="0"/>
          </a:p>
        </p:txBody>
      </p:sp>
      <p:sp>
        <p:nvSpPr>
          <p:cNvPr id="5" name="Shape 3"/>
          <p:cNvSpPr/>
          <p:nvPr/>
        </p:nvSpPr>
        <p:spPr>
          <a:xfrm>
            <a:off x="411480" y="1207008"/>
            <a:ext cx="5394960" cy="502920"/>
          </a:xfrm>
          <a:prstGeom prst="rect">
            <a:avLst/>
          </a:prstGeom>
          <a:solidFill>
            <a:srgbClr val="13294B"/>
          </a:solidFill>
          <a:ln/>
        </p:spPr>
      </p:sp>
      <p:sp>
        <p:nvSpPr>
          <p:cNvPr id="6" name="Text 4"/>
          <p:cNvSpPr/>
          <p:nvPr/>
        </p:nvSpPr>
        <p:spPr>
          <a:xfrm>
            <a:off x="594360" y="1207008"/>
            <a:ext cx="5029200" cy="502920"/>
          </a:xfrm>
          <a:prstGeom prst="rect">
            <a:avLst/>
          </a:prstGeom>
          <a:noFill/>
          <a:ln/>
        </p:spPr>
        <p:txBody>
          <a:bodyPr wrap="square" rtlCol="0" anchor="ct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배치 형태 (Layout Type)  ▾</a:t>
            </a:r>
            <a:endParaRPr lang="en-US" sz="1200" dirty="0"/>
          </a:p>
        </p:txBody>
      </p:sp>
      <p:sp>
        <p:nvSpPr>
          <p:cNvPr id="7" name="Shape 5"/>
          <p:cNvSpPr/>
          <p:nvPr/>
        </p:nvSpPr>
        <p:spPr>
          <a:xfrm>
            <a:off x="594360" y="1828800"/>
            <a:ext cx="5029200" cy="384048"/>
          </a:xfrm>
          <a:prstGeom prst="rect">
            <a:avLst/>
          </a:prstGeom>
          <a:solidFill>
            <a:srgbClr val="F0EEEA"/>
          </a:solidFill>
          <a:ln w="9525">
            <a:solidFill>
              <a:srgbClr val="DCD9D2"/>
            </a:solidFill>
            <a:prstDash val="solid"/>
          </a:ln>
        </p:spPr>
      </p:sp>
      <p:sp>
        <p:nvSpPr>
          <p:cNvPr id="8" name="Text 6"/>
          <p:cNvSpPr/>
          <p:nvPr/>
        </p:nvSpPr>
        <p:spPr>
          <a:xfrm>
            <a:off x="731520" y="1828800"/>
            <a:ext cx="4754880" cy="384048"/>
          </a:xfrm>
          <a:prstGeom prst="rect">
            <a:avLst/>
          </a:prstGeom>
          <a:noFill/>
          <a:ln/>
        </p:spPr>
        <p:txBody>
          <a:bodyPr wrap="square" rtlCol="0" anchor="ctr"/>
          <a:lstStyle/>
          <a:p>
            <a:pPr indent="0" marL="0">
              <a:buNone/>
            </a:pPr>
            <a:r>
              <a:rPr lang="en-US" sz="1050" dirty="0">
                <a:solidFill>
                  <a:srgbClr val="1F2430"/>
                </a:solidFill>
                <a:latin typeface="맑은 고딕" pitchFamily="34" charset="0"/>
                <a:ea typeface="맑은 고딕" pitchFamily="34" charset="-122"/>
                <a:cs typeface="맑은 고딕" pitchFamily="34" charset="-120"/>
              </a:rPr>
              <a:t>Rectangular — 사각 페데스탈 + 격자 앵커</a:t>
            </a:r>
            <a:endParaRPr lang="en-US" sz="1050" dirty="0"/>
          </a:p>
        </p:txBody>
      </p:sp>
      <p:sp>
        <p:nvSpPr>
          <p:cNvPr id="9" name="Shape 7"/>
          <p:cNvSpPr/>
          <p:nvPr/>
        </p:nvSpPr>
        <p:spPr>
          <a:xfrm>
            <a:off x="594360" y="2286000"/>
            <a:ext cx="5029200" cy="384048"/>
          </a:xfrm>
          <a:prstGeom prst="rect">
            <a:avLst/>
          </a:prstGeom>
          <a:solidFill>
            <a:srgbClr val="F0EEEA"/>
          </a:solidFill>
          <a:ln w="9525">
            <a:solidFill>
              <a:srgbClr val="DCD9D2"/>
            </a:solidFill>
            <a:prstDash val="solid"/>
          </a:ln>
        </p:spPr>
      </p:sp>
      <p:sp>
        <p:nvSpPr>
          <p:cNvPr id="10" name="Text 8"/>
          <p:cNvSpPr/>
          <p:nvPr/>
        </p:nvSpPr>
        <p:spPr>
          <a:xfrm>
            <a:off x="731520" y="2286000"/>
            <a:ext cx="4754880" cy="384048"/>
          </a:xfrm>
          <a:prstGeom prst="rect">
            <a:avLst/>
          </a:prstGeom>
          <a:noFill/>
          <a:ln/>
        </p:spPr>
        <p:txBody>
          <a:bodyPr wrap="square" rtlCol="0" anchor="ctr"/>
          <a:lstStyle/>
          <a:p>
            <a:pPr indent="0" marL="0">
              <a:buNone/>
            </a:pPr>
            <a:r>
              <a:rPr lang="en-US" sz="1050" dirty="0">
                <a:solidFill>
                  <a:srgbClr val="1F2430"/>
                </a:solidFill>
                <a:latin typeface="맑은 고딕" pitchFamily="34" charset="0"/>
                <a:ea typeface="맑은 고딕" pitchFamily="34" charset="-122"/>
                <a:cs typeface="맑은 고딕" pitchFamily="34" charset="-120"/>
              </a:rPr>
              <a:t>Octagonal — 팔각형 페데스탈 + 원형 앵커</a:t>
            </a:r>
            <a:endParaRPr lang="en-US" sz="1050" dirty="0"/>
          </a:p>
        </p:txBody>
      </p:sp>
      <p:sp>
        <p:nvSpPr>
          <p:cNvPr id="11" name="Text 9"/>
          <p:cNvSpPr/>
          <p:nvPr/>
        </p:nvSpPr>
        <p:spPr>
          <a:xfrm>
            <a:off x="411480" y="2880360"/>
            <a:ext cx="5486400" cy="274320"/>
          </a:xfrm>
          <a:prstGeom prst="rect">
            <a:avLst/>
          </a:prstGeom>
          <a:noFill/>
          <a:ln/>
        </p:spPr>
        <p:txBody>
          <a:bodyPr wrap="square" rtlCol="0" anchor="ctr"/>
          <a:lstStyle/>
          <a:p>
            <a:pPr indent="0" marL="0">
              <a:buNone/>
            </a:pPr>
            <a:r>
              <a:rPr lang="en-US" sz="1150" b="1" dirty="0">
                <a:solidFill>
                  <a:srgbClr val="13294B"/>
                </a:solidFill>
                <a:latin typeface="맑은 고딕" pitchFamily="34" charset="0"/>
                <a:ea typeface="맑은 고딕" pitchFamily="34" charset="-122"/>
                <a:cs typeface="맑은 고딕" pitchFamily="34" charset="-120"/>
              </a:rPr>
              <a:t>선택에 따라 자동 전환되는 항목</a:t>
            </a:r>
            <a:endParaRPr lang="en-US" sz="1150" dirty="0"/>
          </a:p>
        </p:txBody>
      </p:sp>
      <p:sp>
        <p:nvSpPr>
          <p:cNvPr id="12" name="Text 10"/>
          <p:cNvSpPr/>
          <p:nvPr/>
        </p:nvSpPr>
        <p:spPr>
          <a:xfrm>
            <a:off x="411480" y="3200400"/>
            <a:ext cx="5394960" cy="1554480"/>
          </a:xfrm>
          <a:prstGeom prst="rect">
            <a:avLst/>
          </a:prstGeom>
          <a:noFill/>
          <a:ln/>
        </p:spPr>
        <p:txBody>
          <a:bodyPr wrap="square" rtlCol="0" anchor="ctr"/>
          <a:lstStyle/>
          <a:p>
            <a:pPr marL="342900" indent="-342900">
              <a:lnSpc>
                <a:spcPct val="120000"/>
              </a:lnSpc>
              <a:spcAft>
                <a:spcPts val="6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하중입력 UI (Case1/2 축선택 ↔ 합력 통합)</a:t>
            </a:r>
            <a:endParaRPr lang="en-US" sz="1000" dirty="0"/>
          </a:p>
          <a:p>
            <a:pPr marL="342900" indent="-342900">
              <a:lnSpc>
                <a:spcPct val="120000"/>
              </a:lnSpc>
              <a:spcAft>
                <a:spcPts val="6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중립축 계산 로직 (사각 격자 ↔ 원형 극좌표)</a:t>
            </a:r>
            <a:endParaRPr lang="en-US" sz="1000" dirty="0"/>
          </a:p>
          <a:p>
            <a:pPr marL="342900" indent="-342900">
              <a:lnSpc>
                <a:spcPct val="120000"/>
              </a:lnSpc>
              <a:spcAft>
                <a:spcPts val="6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전단키 입력 패널 표시 여부 및 ca1,sl 기본값 산정식</a:t>
            </a:r>
            <a:endParaRPr lang="en-US" sz="1000" dirty="0"/>
          </a:p>
          <a:p>
            <a:pPr marL="342900" indent="-342900">
              <a:lnSpc>
                <a:spcPct val="120000"/>
              </a:lnSpc>
              <a:spcAft>
                <a:spcPts val="600"/>
              </a:spcAft>
              <a:buSzPct val="100000"/>
              <a:buChar char="•"/>
            </a:pPr>
            <a:r>
              <a:rPr lang="en-US" sz="1000" dirty="0">
                <a:solidFill>
                  <a:srgbClr val="1F2430"/>
                </a:solidFill>
                <a:latin typeface="맑은 고딕" pitchFamily="34" charset="0"/>
                <a:ea typeface="맑은 고딕" pitchFamily="34" charset="-122"/>
                <a:cs typeface="맑은 고딕" pitchFamily="34" charset="-120"/>
              </a:rPr>
              <a:t>3D/2D 뷰 렌더링 모듈</a:t>
            </a:r>
            <a:endParaRPr lang="en-US" sz="1000" dirty="0"/>
          </a:p>
        </p:txBody>
      </p:sp>
      <p:sp>
        <p:nvSpPr>
          <p:cNvPr id="13" name="Text 11"/>
          <p:cNvSpPr/>
          <p:nvPr/>
        </p:nvSpPr>
        <p:spPr>
          <a:xfrm>
            <a:off x="6080760" y="868680"/>
            <a:ext cx="5486400" cy="292608"/>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단계적 접근 (권장)</a:t>
            </a:r>
            <a:endParaRPr lang="en-US" sz="1250" dirty="0"/>
          </a:p>
        </p:txBody>
      </p:sp>
      <p:sp>
        <p:nvSpPr>
          <p:cNvPr id="14" name="Shape 12"/>
          <p:cNvSpPr/>
          <p:nvPr/>
        </p:nvSpPr>
        <p:spPr>
          <a:xfrm>
            <a:off x="6080760" y="1207008"/>
            <a:ext cx="658368" cy="658368"/>
          </a:xfrm>
          <a:prstGeom prst="rect">
            <a:avLst/>
          </a:prstGeom>
          <a:solidFill>
            <a:srgbClr val="13294B"/>
          </a:solidFill>
          <a:ln/>
        </p:spPr>
      </p:sp>
      <p:sp>
        <p:nvSpPr>
          <p:cNvPr id="15" name="Text 13"/>
          <p:cNvSpPr/>
          <p:nvPr/>
        </p:nvSpPr>
        <p:spPr>
          <a:xfrm>
            <a:off x="6080760" y="1207008"/>
            <a:ext cx="658368" cy="658368"/>
          </a:xfrm>
          <a:prstGeom prst="rect">
            <a:avLst/>
          </a:prstGeom>
          <a:noFill/>
          <a:ln/>
        </p:spPr>
        <p:txBody>
          <a:bodyPr wrap="square"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1단계</a:t>
            </a:r>
            <a:endParaRPr lang="en-US" sz="950" dirty="0"/>
          </a:p>
        </p:txBody>
      </p:sp>
      <p:sp>
        <p:nvSpPr>
          <p:cNvPr id="16" name="Text 14"/>
          <p:cNvSpPr/>
          <p:nvPr/>
        </p:nvSpPr>
        <p:spPr>
          <a:xfrm>
            <a:off x="6858000" y="1188720"/>
            <a:ext cx="4846320" cy="274320"/>
          </a:xfrm>
          <a:prstGeom prst="rect">
            <a:avLst/>
          </a:prstGeom>
          <a:noFill/>
          <a:ln/>
        </p:spPr>
        <p:txBody>
          <a:bodyPr wrap="square" rtlCol="0" anchor="ctr"/>
          <a:lstStyle/>
          <a:p>
            <a:pPr indent="0" marL="0">
              <a:buNone/>
            </a:pPr>
            <a:r>
              <a:rPr lang="en-US" sz="1100" b="1" dirty="0">
                <a:solidFill>
                  <a:srgbClr val="13294B"/>
                </a:solidFill>
                <a:latin typeface="맑은 고딕" pitchFamily="34" charset="0"/>
                <a:ea typeface="맑은 고딕" pitchFamily="34" charset="-122"/>
                <a:cs typeface="맑은 고딕" pitchFamily="34" charset="-120"/>
              </a:rPr>
              <a:t>공용 계산 코어 분리</a:t>
            </a:r>
            <a:endParaRPr lang="en-US" sz="1100" dirty="0"/>
          </a:p>
        </p:txBody>
      </p:sp>
      <p:sp>
        <p:nvSpPr>
          <p:cNvPr id="17" name="Text 15"/>
          <p:cNvSpPr/>
          <p:nvPr/>
        </p:nvSpPr>
        <p:spPr>
          <a:xfrm>
            <a:off x="6858000" y="1463040"/>
            <a:ext cx="4846320" cy="457200"/>
          </a:xfrm>
          <a:prstGeom prst="rect">
            <a:avLst/>
          </a:prstGeom>
          <a:noFill/>
          <a:ln/>
        </p:spPr>
        <p:txBody>
          <a:bodyPr wrap="square" rtlCol="0" anchor="ctr"/>
          <a:lstStyle/>
          <a:p>
            <a:pPr indent="0" marL="0">
              <a:lnSpc>
                <a:spcPct val="115000"/>
              </a:lnSpc>
              <a:buNone/>
            </a:pPr>
            <a:r>
              <a:rPr lang="en-US" sz="900" dirty="0">
                <a:solidFill>
                  <a:srgbClr val="5B6472"/>
                </a:solidFill>
                <a:latin typeface="맑은 고딕" pitchFamily="34" charset="0"/>
                <a:ea typeface="맑은 고딕" pitchFamily="34" charset="-122"/>
                <a:cs typeface="맑은 고딕" pitchFamily="34" charset="-120"/>
              </a:rPr>
              <a:t>ANc/Nb/Vb 등 배치형태 무관 ACI 공식을 공용 모듈로 추출 (양쪽 툴이 이미 거의 동일 로직 보유)</a:t>
            </a:r>
            <a:endParaRPr lang="en-US" sz="900" dirty="0"/>
          </a:p>
        </p:txBody>
      </p:sp>
      <p:sp>
        <p:nvSpPr>
          <p:cNvPr id="18" name="Shape 16"/>
          <p:cNvSpPr/>
          <p:nvPr/>
        </p:nvSpPr>
        <p:spPr>
          <a:xfrm>
            <a:off x="6080760" y="2103120"/>
            <a:ext cx="658368" cy="658368"/>
          </a:xfrm>
          <a:prstGeom prst="rect">
            <a:avLst/>
          </a:prstGeom>
          <a:solidFill>
            <a:srgbClr val="13294B"/>
          </a:solidFill>
          <a:ln/>
        </p:spPr>
      </p:sp>
      <p:sp>
        <p:nvSpPr>
          <p:cNvPr id="19" name="Text 17"/>
          <p:cNvSpPr/>
          <p:nvPr/>
        </p:nvSpPr>
        <p:spPr>
          <a:xfrm>
            <a:off x="6080760" y="2103120"/>
            <a:ext cx="658368" cy="658368"/>
          </a:xfrm>
          <a:prstGeom prst="rect">
            <a:avLst/>
          </a:prstGeom>
          <a:noFill/>
          <a:ln/>
        </p:spPr>
        <p:txBody>
          <a:bodyPr wrap="square"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2단계</a:t>
            </a:r>
            <a:endParaRPr lang="en-US" sz="950" dirty="0"/>
          </a:p>
        </p:txBody>
      </p:sp>
      <p:sp>
        <p:nvSpPr>
          <p:cNvPr id="20" name="Text 18"/>
          <p:cNvSpPr/>
          <p:nvPr/>
        </p:nvSpPr>
        <p:spPr>
          <a:xfrm>
            <a:off x="6858000" y="2084832"/>
            <a:ext cx="4846320" cy="274320"/>
          </a:xfrm>
          <a:prstGeom prst="rect">
            <a:avLst/>
          </a:prstGeom>
          <a:noFill/>
          <a:ln/>
        </p:spPr>
        <p:txBody>
          <a:bodyPr wrap="square" rtlCol="0" anchor="ctr"/>
          <a:lstStyle/>
          <a:p>
            <a:pPr indent="0" marL="0">
              <a:buNone/>
            </a:pPr>
            <a:r>
              <a:rPr lang="en-US" sz="1100" b="1" dirty="0">
                <a:solidFill>
                  <a:srgbClr val="13294B"/>
                </a:solidFill>
                <a:latin typeface="맑은 고딕" pitchFamily="34" charset="0"/>
                <a:ea typeface="맑은 고딕" pitchFamily="34" charset="-122"/>
                <a:cs typeface="맑은 고딕" pitchFamily="34" charset="-120"/>
              </a:rPr>
              <a:t>배치형태별 어댑터 작성</a:t>
            </a:r>
            <a:endParaRPr lang="en-US" sz="1100" dirty="0"/>
          </a:p>
        </p:txBody>
      </p:sp>
      <p:sp>
        <p:nvSpPr>
          <p:cNvPr id="21" name="Text 19"/>
          <p:cNvSpPr/>
          <p:nvPr/>
        </p:nvSpPr>
        <p:spPr>
          <a:xfrm>
            <a:off x="6858000" y="2359152"/>
            <a:ext cx="4846320" cy="457200"/>
          </a:xfrm>
          <a:prstGeom prst="rect">
            <a:avLst/>
          </a:prstGeom>
          <a:noFill/>
          <a:ln/>
        </p:spPr>
        <p:txBody>
          <a:bodyPr wrap="square" rtlCol="0" anchor="ctr"/>
          <a:lstStyle/>
          <a:p>
            <a:pPr indent="0" marL="0">
              <a:lnSpc>
                <a:spcPct val="115000"/>
              </a:lnSpc>
              <a:buNone/>
            </a:pPr>
            <a:r>
              <a:rPr lang="en-US" sz="900" dirty="0">
                <a:solidFill>
                  <a:srgbClr val="5B6472"/>
                </a:solidFill>
                <a:latin typeface="맑은 고딕" pitchFamily="34" charset="0"/>
                <a:ea typeface="맑은 고딕" pitchFamily="34" charset="-122"/>
                <a:cs typeface="맑은 고딕" pitchFamily="34" charset="-120"/>
              </a:rPr>
              <a:t>앵커좌표 생성·하중분배·중립축 계산만 형태별 어댑터로 분리 유지</a:t>
            </a:r>
            <a:endParaRPr lang="en-US" sz="900" dirty="0"/>
          </a:p>
        </p:txBody>
      </p:sp>
      <p:sp>
        <p:nvSpPr>
          <p:cNvPr id="22" name="Shape 20"/>
          <p:cNvSpPr/>
          <p:nvPr/>
        </p:nvSpPr>
        <p:spPr>
          <a:xfrm>
            <a:off x="6080760" y="2999232"/>
            <a:ext cx="658368" cy="658368"/>
          </a:xfrm>
          <a:prstGeom prst="rect">
            <a:avLst/>
          </a:prstGeom>
          <a:solidFill>
            <a:srgbClr val="13294B"/>
          </a:solidFill>
          <a:ln/>
        </p:spPr>
      </p:sp>
      <p:sp>
        <p:nvSpPr>
          <p:cNvPr id="23" name="Text 21"/>
          <p:cNvSpPr/>
          <p:nvPr/>
        </p:nvSpPr>
        <p:spPr>
          <a:xfrm>
            <a:off x="6080760" y="2999232"/>
            <a:ext cx="658368" cy="658368"/>
          </a:xfrm>
          <a:prstGeom prst="rect">
            <a:avLst/>
          </a:prstGeom>
          <a:noFill/>
          <a:ln/>
        </p:spPr>
        <p:txBody>
          <a:bodyPr wrap="square"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3단계</a:t>
            </a:r>
            <a:endParaRPr lang="en-US" sz="950" dirty="0"/>
          </a:p>
        </p:txBody>
      </p:sp>
      <p:sp>
        <p:nvSpPr>
          <p:cNvPr id="24" name="Text 22"/>
          <p:cNvSpPr/>
          <p:nvPr/>
        </p:nvSpPr>
        <p:spPr>
          <a:xfrm>
            <a:off x="6858000" y="2980944"/>
            <a:ext cx="4846320" cy="274320"/>
          </a:xfrm>
          <a:prstGeom prst="rect">
            <a:avLst/>
          </a:prstGeom>
          <a:noFill/>
          <a:ln/>
        </p:spPr>
        <p:txBody>
          <a:bodyPr wrap="square" rtlCol="0" anchor="ctr"/>
          <a:lstStyle/>
          <a:p>
            <a:pPr indent="0" marL="0">
              <a:buNone/>
            </a:pPr>
            <a:r>
              <a:rPr lang="en-US" sz="1100" b="1" dirty="0">
                <a:solidFill>
                  <a:srgbClr val="13294B"/>
                </a:solidFill>
                <a:latin typeface="맑은 고딕" pitchFamily="34" charset="0"/>
                <a:ea typeface="맑은 고딕" pitchFamily="34" charset="-122"/>
                <a:cs typeface="맑은 고딕" pitchFamily="34" charset="-120"/>
              </a:rPr>
              <a:t>전단키 모듈 공용화</a:t>
            </a:r>
            <a:endParaRPr lang="en-US" sz="1100" dirty="0"/>
          </a:p>
        </p:txBody>
      </p:sp>
      <p:sp>
        <p:nvSpPr>
          <p:cNvPr id="25" name="Text 23"/>
          <p:cNvSpPr/>
          <p:nvPr/>
        </p:nvSpPr>
        <p:spPr>
          <a:xfrm>
            <a:off x="6858000" y="3255264"/>
            <a:ext cx="4846320" cy="457200"/>
          </a:xfrm>
          <a:prstGeom prst="rect">
            <a:avLst/>
          </a:prstGeom>
          <a:noFill/>
          <a:ln/>
        </p:spPr>
        <p:txBody>
          <a:bodyPr wrap="square" rtlCol="0" anchor="ctr"/>
          <a:lstStyle/>
          <a:p>
            <a:pPr indent="0" marL="0">
              <a:lnSpc>
                <a:spcPct val="115000"/>
              </a:lnSpc>
              <a:buNone/>
            </a:pPr>
            <a:r>
              <a:rPr lang="en-US" sz="900" dirty="0">
                <a:solidFill>
                  <a:srgbClr val="5B6472"/>
                </a:solidFill>
                <a:latin typeface="맑은 고딕" pitchFamily="34" charset="0"/>
                <a:ea typeface="맑은 고딕" pitchFamily="34" charset="-122"/>
                <a:cs typeface="맑은 고딕" pitchFamily="34" charset="-120"/>
              </a:rPr>
              <a:t>이번에 이식한 Rectangular 전단키 로직과 Octagonal 로직을 공용 모듈로 통합</a:t>
            </a:r>
            <a:endParaRPr lang="en-US" sz="900" dirty="0"/>
          </a:p>
        </p:txBody>
      </p:sp>
      <p:sp>
        <p:nvSpPr>
          <p:cNvPr id="26" name="Shape 24"/>
          <p:cNvSpPr/>
          <p:nvPr/>
        </p:nvSpPr>
        <p:spPr>
          <a:xfrm>
            <a:off x="6080760" y="3895344"/>
            <a:ext cx="658368" cy="658368"/>
          </a:xfrm>
          <a:prstGeom prst="rect">
            <a:avLst/>
          </a:prstGeom>
          <a:solidFill>
            <a:srgbClr val="13294B"/>
          </a:solidFill>
          <a:ln/>
        </p:spPr>
      </p:sp>
      <p:sp>
        <p:nvSpPr>
          <p:cNvPr id="27" name="Text 25"/>
          <p:cNvSpPr/>
          <p:nvPr/>
        </p:nvSpPr>
        <p:spPr>
          <a:xfrm>
            <a:off x="6080760" y="3895344"/>
            <a:ext cx="658368" cy="658368"/>
          </a:xfrm>
          <a:prstGeom prst="rect">
            <a:avLst/>
          </a:prstGeom>
          <a:noFill/>
          <a:ln/>
        </p:spPr>
        <p:txBody>
          <a:bodyPr wrap="square"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4단계</a:t>
            </a:r>
            <a:endParaRPr lang="en-US" sz="950" dirty="0"/>
          </a:p>
        </p:txBody>
      </p:sp>
      <p:sp>
        <p:nvSpPr>
          <p:cNvPr id="28" name="Text 26"/>
          <p:cNvSpPr/>
          <p:nvPr/>
        </p:nvSpPr>
        <p:spPr>
          <a:xfrm>
            <a:off x="6858000" y="3877056"/>
            <a:ext cx="4846320" cy="274320"/>
          </a:xfrm>
          <a:prstGeom prst="rect">
            <a:avLst/>
          </a:prstGeom>
          <a:noFill/>
          <a:ln/>
        </p:spPr>
        <p:txBody>
          <a:bodyPr wrap="square" rtlCol="0" anchor="ctr"/>
          <a:lstStyle/>
          <a:p>
            <a:pPr indent="0" marL="0">
              <a:buNone/>
            </a:pPr>
            <a:r>
              <a:rPr lang="en-US" sz="1100" b="1" dirty="0">
                <a:solidFill>
                  <a:srgbClr val="13294B"/>
                </a:solidFill>
                <a:latin typeface="맑은 고딕" pitchFamily="34" charset="0"/>
                <a:ea typeface="맑은 고딕" pitchFamily="34" charset="-122"/>
                <a:cs typeface="맑은 고딕" pitchFamily="34" charset="-120"/>
              </a:rPr>
              <a:t>단일 HTML 드롭다운 통합</a:t>
            </a:r>
            <a:endParaRPr lang="en-US" sz="1100" dirty="0"/>
          </a:p>
        </p:txBody>
      </p:sp>
      <p:sp>
        <p:nvSpPr>
          <p:cNvPr id="29" name="Text 27"/>
          <p:cNvSpPr/>
          <p:nvPr/>
        </p:nvSpPr>
        <p:spPr>
          <a:xfrm>
            <a:off x="6858000" y="4151376"/>
            <a:ext cx="4846320" cy="457200"/>
          </a:xfrm>
          <a:prstGeom prst="rect">
            <a:avLst/>
          </a:prstGeom>
          <a:noFill/>
          <a:ln/>
        </p:spPr>
        <p:txBody>
          <a:bodyPr wrap="square" rtlCol="0" anchor="ctr"/>
          <a:lstStyle/>
          <a:p>
            <a:pPr indent="0" marL="0">
              <a:lnSpc>
                <a:spcPct val="115000"/>
              </a:lnSpc>
              <a:buNone/>
            </a:pPr>
            <a:r>
              <a:rPr lang="en-US" sz="900" dirty="0">
                <a:solidFill>
                  <a:srgbClr val="5B6472"/>
                </a:solidFill>
                <a:latin typeface="맑은 고딕" pitchFamily="34" charset="0"/>
                <a:ea typeface="맑은 고딕" pitchFamily="34" charset="-122"/>
                <a:cs typeface="맑은 고딕" pitchFamily="34" charset="-120"/>
              </a:rPr>
              <a:t>위 3단계 검증 완료 후 단일 파일로 병합, 회귀검증(TC2C·v4 예제) 재실행</a:t>
            </a:r>
            <a:endParaRPr lang="en-US" sz="900" dirty="0"/>
          </a:p>
        </p:txBody>
      </p:sp>
      <p:sp>
        <p:nvSpPr>
          <p:cNvPr id="30" name="Shape 28"/>
          <p:cNvSpPr/>
          <p:nvPr/>
        </p:nvSpPr>
        <p:spPr>
          <a:xfrm>
            <a:off x="411480" y="4983480"/>
            <a:ext cx="11338560" cy="1051560"/>
          </a:xfrm>
          <a:prstGeom prst="rect">
            <a:avLst/>
          </a:prstGeom>
          <a:solidFill>
            <a:srgbClr val="F0EEEA"/>
          </a:solidFill>
          <a:ln w="12700">
            <a:solidFill>
              <a:srgbClr val="DCD9D2"/>
            </a:solidFill>
            <a:prstDash val="solid"/>
          </a:ln>
        </p:spPr>
      </p:sp>
      <p:sp>
        <p:nvSpPr>
          <p:cNvPr id="31" name="Text 29"/>
          <p:cNvSpPr/>
          <p:nvPr/>
        </p:nvSpPr>
        <p:spPr>
          <a:xfrm>
            <a:off x="640080" y="5102352"/>
            <a:ext cx="2743200" cy="274320"/>
          </a:xfrm>
          <a:prstGeom prst="rect">
            <a:avLst/>
          </a:prstGeom>
          <a:noFill/>
          <a:ln/>
        </p:spPr>
        <p:txBody>
          <a:bodyPr wrap="square" rtlCol="0" anchor="ctr"/>
          <a:lstStyle/>
          <a:p>
            <a:pPr indent="0" marL="0">
              <a:buNone/>
            </a:pPr>
            <a:r>
              <a:rPr lang="en-US" sz="1050" b="1" dirty="0">
                <a:solidFill>
                  <a:srgbClr val="13294B"/>
                </a:solidFill>
                <a:latin typeface="맑은 고딕" pitchFamily="34" charset="0"/>
                <a:ea typeface="맑은 고딕" pitchFamily="34" charset="-122"/>
                <a:cs typeface="맑은 고딕" pitchFamily="34" charset="-120"/>
              </a:rPr>
              <a:t>남은 이슈</a:t>
            </a:r>
            <a:endParaRPr lang="en-US" sz="1050" dirty="0"/>
          </a:p>
        </p:txBody>
      </p:sp>
      <p:sp>
        <p:nvSpPr>
          <p:cNvPr id="32" name="Text 30"/>
          <p:cNvSpPr/>
          <p:nvPr/>
        </p:nvSpPr>
        <p:spPr>
          <a:xfrm>
            <a:off x="640080" y="5394960"/>
            <a:ext cx="10789920" cy="548640"/>
          </a:xfrm>
          <a:prstGeom prst="rect">
            <a:avLst/>
          </a:prstGeom>
          <a:noFill/>
          <a:ln/>
        </p:spPr>
        <p:txBody>
          <a:bodyPr wrap="square" rtlCol="0" anchor="ctr"/>
          <a:lstStyle/>
          <a:p>
            <a:pPr indent="0" marL="0">
              <a:lnSpc>
                <a:spcPct val="125000"/>
              </a:lnSpc>
              <a:buNone/>
            </a:pPr>
            <a:r>
              <a:rPr lang="en-US" sz="1000" dirty="0">
                <a:solidFill>
                  <a:srgbClr val="5B6472"/>
                </a:solidFill>
                <a:latin typeface="맑은 고딕" pitchFamily="34" charset="0"/>
                <a:ea typeface="맑은 고딕" pitchFamily="34" charset="-122"/>
                <a:cs typeface="맑은 고딕" pitchFamily="34" charset="-120"/>
              </a:rPr>
              <a:t>naMode 4가지 방식(linear/manual/rc/elastic-default) 중 2개(rc, 기본 elastic)가 UI 미노출 상태로 코드에만 존재 — 통합 시 정리 또는 정식 옵션화 여부 결정 필요</a:t>
            </a:r>
            <a:endParaRPr lang="en-US" sz="1000" dirty="0"/>
          </a:p>
        </p:txBody>
      </p:sp>
      <p:sp>
        <p:nvSpPr>
          <p:cNvPr id="33" name="Text 31"/>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34" name="Text 32"/>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다음 단계: Hilti 화학앵커(Chemical Bolt) 통합</a:t>
            </a:r>
            <a:endParaRPr lang="en-US" sz="1900" dirty="0"/>
          </a:p>
        </p:txBody>
      </p:sp>
      <p:sp>
        <p:nvSpPr>
          <p:cNvPr id="4" name="Text 2"/>
          <p:cNvSpPr/>
          <p:nvPr/>
        </p:nvSpPr>
        <p:spPr>
          <a:xfrm>
            <a:off x="411480" y="914400"/>
            <a:ext cx="5303520" cy="292608"/>
          </a:xfrm>
          <a:prstGeom prst="rect">
            <a:avLst/>
          </a:prstGeom>
          <a:noFill/>
          <a:ln/>
        </p:spPr>
        <p:txBody>
          <a:bodyPr wrap="square" rtlCol="0" anchor="ctr"/>
          <a:lstStyle/>
          <a:p>
            <a:pPr indent="0" marL="0">
              <a:buNone/>
            </a:pPr>
            <a:r>
              <a:rPr lang="en-US" sz="1250" b="1" dirty="0">
                <a:solidFill>
                  <a:srgbClr val="B23A3A"/>
                </a:solidFill>
                <a:latin typeface="맑은 고딕" pitchFamily="34" charset="0"/>
                <a:ea typeface="맑은 고딕" pitchFamily="34" charset="-122"/>
                <a:cs typeface="맑은 고딕" pitchFamily="34" charset="-120"/>
              </a:rPr>
              <a:t>현재 문제</a:t>
            </a:r>
            <a:endParaRPr lang="en-US" sz="1250" dirty="0"/>
          </a:p>
        </p:txBody>
      </p:sp>
      <p:sp>
        <p:nvSpPr>
          <p:cNvPr id="5" name="Text 3"/>
          <p:cNvSpPr/>
          <p:nvPr/>
        </p:nvSpPr>
        <p:spPr>
          <a:xfrm>
            <a:off x="411480" y="1261872"/>
            <a:ext cx="5303520" cy="1371600"/>
          </a:xfrm>
          <a:prstGeom prst="rect">
            <a:avLst/>
          </a:prstGeom>
          <a:noFill/>
          <a:ln/>
        </p:spPr>
        <p:txBody>
          <a:bodyPr wrap="square" rtlCol="0" anchor="ctr"/>
          <a:lstStyle/>
          <a:p>
            <a:pPr indent="0" marL="0">
              <a:lnSpc>
                <a:spcPct val="135000"/>
              </a:lnSpc>
              <a:buNone/>
            </a:pPr>
            <a:r>
              <a:rPr lang="en-US" sz="1100" dirty="0">
                <a:solidFill>
                  <a:srgbClr val="1F2430"/>
                </a:solidFill>
                <a:latin typeface="맑은 고딕" pitchFamily="34" charset="0"/>
                <a:ea typeface="맑은 고딕" pitchFamily="34" charset="-122"/>
                <a:cs typeface="맑은 고딕" pitchFamily="34" charset="-120"/>
              </a:rPr>
              <a:t>Chemical Bolt가 필요한 상황에서 어떤 제품을, 어떤 기준으로, 어떻게 선정·계산해야 하는지에 대한 사내 가이드라인이 부재하다. 현재는 제조사 브로슈어를 개별적으로 해석해야 한다.</a:t>
            </a:r>
            <a:endParaRPr lang="en-US" sz="1100" dirty="0"/>
          </a:p>
        </p:txBody>
      </p:sp>
      <p:sp>
        <p:nvSpPr>
          <p:cNvPr id="6" name="Text 4"/>
          <p:cNvSpPr/>
          <p:nvPr/>
        </p:nvSpPr>
        <p:spPr>
          <a:xfrm>
            <a:off x="6126480" y="914400"/>
            <a:ext cx="5303520" cy="292608"/>
          </a:xfrm>
          <a:prstGeom prst="rect">
            <a:avLst/>
          </a:prstGeom>
          <a:noFill/>
          <a:ln/>
        </p:spPr>
        <p:txBody>
          <a:bodyPr wrap="square" rtlCol="0" anchor="ctr"/>
          <a:lstStyle/>
          <a:p>
            <a:pPr indent="0" marL="0">
              <a:buNone/>
            </a:pPr>
            <a:r>
              <a:rPr lang="en-US" sz="1250" b="1" dirty="0">
                <a:solidFill>
                  <a:srgbClr val="13294B"/>
                </a:solidFill>
                <a:latin typeface="맑은 고딕" pitchFamily="34" charset="0"/>
                <a:ea typeface="맑은 고딕" pitchFamily="34" charset="-122"/>
                <a:cs typeface="맑은 고딕" pitchFamily="34" charset="-120"/>
              </a:rPr>
              <a:t>추진 방향</a:t>
            </a:r>
            <a:endParaRPr lang="en-US" sz="1250" dirty="0"/>
          </a:p>
        </p:txBody>
      </p:sp>
      <p:sp>
        <p:nvSpPr>
          <p:cNvPr id="7" name="Text 5"/>
          <p:cNvSpPr/>
          <p:nvPr/>
        </p:nvSpPr>
        <p:spPr>
          <a:xfrm>
            <a:off x="6126480" y="1261872"/>
            <a:ext cx="5303520" cy="1554480"/>
          </a:xfrm>
          <a:prstGeom prst="rect">
            <a:avLst/>
          </a:prstGeom>
          <a:noFill/>
          <a:ln/>
        </p:spPr>
        <p:txBody>
          <a:bodyPr wrap="square" rtlCol="0" anchor="ctr"/>
          <a:lstStyle/>
          <a:p>
            <a:pPr marL="342900" indent="-342900">
              <a:lnSpc>
                <a:spcPct val="120000"/>
              </a:lnSpc>
              <a:spcAft>
                <a:spcPts val="800"/>
              </a:spcAft>
              <a:buSzPct val="100000"/>
              <a:buChar char="①"/>
            </a:pPr>
            <a:r>
              <a:rPr lang="en-US" sz="1100" dirty="0">
                <a:solidFill>
                  <a:srgbClr val="1F2430"/>
                </a:solidFill>
                <a:latin typeface="맑은 고딕" pitchFamily="34" charset="0"/>
                <a:ea typeface="맑은 고딕" pitchFamily="34" charset="-122"/>
                <a:cs typeface="맑은 고딕" pitchFamily="34" charset="-120"/>
              </a:rPr>
              <a:t>요약 계산서(초안) 검토 — Hilti 설계 프로세스 이해</a:t>
            </a:r>
            <a:endParaRPr lang="en-US" sz="1100" dirty="0"/>
          </a:p>
          <a:p>
            <a:pPr marL="342900" indent="-342900">
              <a:lnSpc>
                <a:spcPct val="120000"/>
              </a:lnSpc>
              <a:spcAft>
                <a:spcPts val="800"/>
              </a:spcAft>
              <a:buSzPct val="100000"/>
              <a:buChar char="②"/>
            </a:pPr>
            <a:r>
              <a:rPr lang="en-US" sz="1100" dirty="0">
                <a:solidFill>
                  <a:srgbClr val="1F2430"/>
                </a:solidFill>
                <a:latin typeface="맑은 고딕" pitchFamily="34" charset="0"/>
                <a:ea typeface="맑은 고딕" pitchFamily="34" charset="-122"/>
                <a:cs typeface="맑은 고딕" pitchFamily="34" charset="-120"/>
              </a:rPr>
              <a:t>HTML 도구에 Hilti 제품 카탈로그 반영 (Bond Stress, 시공조건별)</a:t>
            </a:r>
            <a:endParaRPr lang="en-US" sz="1100" dirty="0"/>
          </a:p>
          <a:p>
            <a:pPr marL="342900" indent="-342900">
              <a:lnSpc>
                <a:spcPct val="120000"/>
              </a:lnSpc>
              <a:spcAft>
                <a:spcPts val="800"/>
              </a:spcAft>
              <a:buSzPct val="100000"/>
              <a:buChar char="③"/>
            </a:pPr>
            <a:r>
              <a:rPr lang="en-US" sz="1100" dirty="0">
                <a:solidFill>
                  <a:srgbClr val="1F2430"/>
                </a:solidFill>
                <a:latin typeface="맑은 고딕" pitchFamily="34" charset="0"/>
                <a:ea typeface="맑은 고딕" pitchFamily="34" charset="-122"/>
                <a:cs typeface="맑은 고딕" pitchFamily="34" charset="-120"/>
              </a:rPr>
              <a:t>ESR / PROFIS Anchor 결과와 대조 검증</a:t>
            </a:r>
            <a:endParaRPr lang="en-US" sz="1100" dirty="0"/>
          </a:p>
          <a:p>
            <a:pPr marL="342900" indent="-342900">
              <a:lnSpc>
                <a:spcPct val="120000"/>
              </a:lnSpc>
              <a:spcAft>
                <a:spcPts val="800"/>
              </a:spcAft>
              <a:buSzPct val="100000"/>
              <a:buChar char="④"/>
            </a:pPr>
            <a:r>
              <a:rPr lang="en-US" sz="1100" dirty="0">
                <a:solidFill>
                  <a:srgbClr val="1F2430"/>
                </a:solidFill>
                <a:latin typeface="맑은 고딕" pitchFamily="34" charset="0"/>
                <a:ea typeface="맑은 고딕" pitchFamily="34" charset="-122"/>
                <a:cs typeface="맑은 고딕" pitchFamily="34" charset="-120"/>
              </a:rPr>
              <a:t>사내 선정 가이드라인(플로차트) 수립</a:t>
            </a:r>
            <a:endParaRPr lang="en-US" sz="1100" dirty="0"/>
          </a:p>
        </p:txBody>
      </p:sp>
      <p:sp>
        <p:nvSpPr>
          <p:cNvPr id="8" name="Shape 6"/>
          <p:cNvSpPr/>
          <p:nvPr/>
        </p:nvSpPr>
        <p:spPr>
          <a:xfrm>
            <a:off x="411480" y="2926080"/>
            <a:ext cx="11338560" cy="3108960"/>
          </a:xfrm>
          <a:prstGeom prst="rect">
            <a:avLst/>
          </a:prstGeom>
          <a:solidFill>
            <a:srgbClr val="13294B"/>
          </a:solidFill>
          <a:ln/>
        </p:spPr>
      </p:sp>
      <p:sp>
        <p:nvSpPr>
          <p:cNvPr id="9" name="Text 7"/>
          <p:cNvSpPr/>
          <p:nvPr/>
        </p:nvSpPr>
        <p:spPr>
          <a:xfrm>
            <a:off x="685800" y="3108960"/>
            <a:ext cx="3657600" cy="320040"/>
          </a:xfrm>
          <a:prstGeom prst="rect">
            <a:avLst/>
          </a:prstGeom>
          <a:noFill/>
          <a:ln/>
        </p:spPr>
        <p:txBody>
          <a:bodyPr wrap="square" rtlCol="0" anchor="ctr"/>
          <a:lstStyle/>
          <a:p>
            <a:pPr indent="0" marL="0">
              <a:buNone/>
            </a:pPr>
            <a:r>
              <a:rPr lang="en-US" sz="1250" b="1" dirty="0">
                <a:solidFill>
                  <a:srgbClr val="C9A227"/>
                </a:solidFill>
                <a:latin typeface="맑은 고딕" pitchFamily="34" charset="0"/>
                <a:ea typeface="맑은 고딕" pitchFamily="34" charset="-122"/>
                <a:cs typeface="맑은 고딕" pitchFamily="34" charset="-120"/>
              </a:rPr>
              <a:t>⚠ 유의사항</a:t>
            </a:r>
            <a:endParaRPr lang="en-US" sz="1250" dirty="0"/>
          </a:p>
        </p:txBody>
      </p:sp>
      <p:sp>
        <p:nvSpPr>
          <p:cNvPr id="10" name="Text 8"/>
          <p:cNvSpPr/>
          <p:nvPr/>
        </p:nvSpPr>
        <p:spPr>
          <a:xfrm>
            <a:off x="685800" y="3520440"/>
            <a:ext cx="10789920" cy="2194560"/>
          </a:xfrm>
          <a:prstGeom prst="rect">
            <a:avLst/>
          </a:prstGeom>
          <a:noFill/>
          <a:ln/>
        </p:spPr>
        <p:txBody>
          <a:bodyPr wrap="square" rtlCol="0" anchor="ctr"/>
          <a:lstStyle/>
          <a:p>
            <a:pPr indent="0" marL="0">
              <a:lnSpc>
                <a:spcPct val="150000"/>
              </a:lnSpc>
              <a:buNone/>
            </a:pPr>
            <a:r>
              <a:rPr lang="en-US" sz="1200" dirty="0">
                <a:solidFill>
                  <a:srgbClr val="FFFFFF"/>
                </a:solidFill>
                <a:latin typeface="맑은 고딕" pitchFamily="34" charset="0"/>
                <a:ea typeface="맑은 고딕" pitchFamily="34" charset="-122"/>
                <a:cs typeface="맑은 고딕" pitchFamily="34" charset="-120"/>
              </a:rPr>
              <a:t>본 보고서에 포함된 Hilti 제품 요약 계산서 및 Bond Stress 참고값은 공개된 기술자료 수준의 예시로서, 공식 설계값이 아닙니다.</a:t>
            </a:r>
            <a:endParaRPr lang="en-US" sz="1200" dirty="0"/>
          </a:p>
          <a:p>
            <a:pPr indent="0" marL="0">
              <a:lnSpc>
                <a:spcPct val="150000"/>
              </a:lnSpc>
              <a:buNone/>
            </a:pPr>
            <a:r>
              <a:rPr lang="en-US" sz="1200" dirty="0">
                <a:solidFill>
                  <a:srgbClr val="FFFFFF"/>
                </a:solidFill>
                <a:latin typeface="맑은 고딕" pitchFamily="34" charset="0"/>
                <a:ea typeface="맑은 고딕" pitchFamily="34" charset="-122"/>
                <a:cs typeface="맑은 고딕" pitchFamily="34" charset="-120"/>
              </a:rPr>
              <a:t>실제 프로젝트 적용 전 반드시 Hilti PROFIS Anchor 소프트웨어 및 최신 ESR(제품평가보고서)로 재검증이 필요합니다.</a:t>
            </a:r>
            <a:endParaRPr lang="en-US" sz="1200" dirty="0"/>
          </a:p>
          <a:p>
            <a:pPr indent="0" marL="0">
              <a:lnSpc>
                <a:spcPct val="150000"/>
              </a:lnSpc>
              <a:buNone/>
            </a:pPr>
            <a:r>
              <a:rPr lang="en-US" sz="1200" dirty="0">
                <a:solidFill>
                  <a:srgbClr val="FFFFFF"/>
                </a:solidFill>
                <a:latin typeface="맑은 고딕" pitchFamily="34" charset="0"/>
                <a:ea typeface="맑은 고딕" pitchFamily="34" charset="-122"/>
                <a:cs typeface="맑은 고딕" pitchFamily="34" charset="-120"/>
              </a:rPr>
              <a:t>HTML 도구의 Bond Preset 기능 역시 동일한 원칙으로 “참고값 + 필수 검증 경고”를 함께 표시하도록 구현되어 있습니다.</a:t>
            </a:r>
            <a:endParaRPr lang="en-US" sz="1200" dirty="0"/>
          </a:p>
        </p:txBody>
      </p:sp>
      <p:sp>
        <p:nvSpPr>
          <p:cNvPr id="11" name="Text 9"/>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12" name="Text 10"/>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D1414"/>
        </a:solidFill>
      </p:bgPr>
    </p:bg>
    <p:spTree>
      <p:nvGrpSpPr>
        <p:cNvPr id="1" name=""/>
        <p:cNvGrpSpPr/>
        <p:nvPr/>
      </p:nvGrpSpPr>
      <p:grpSpPr>
        <a:xfrm>
          <a:off x="0" y="0"/>
          <a:ext cx="0" cy="0"/>
          <a:chOff x="0" y="0"/>
          <a:chExt cx="0" cy="0"/>
        </a:xfrm>
      </p:grpSpPr>
      <p:sp>
        <p:nvSpPr>
          <p:cNvPr id="2" name="Shape 0"/>
          <p:cNvSpPr/>
          <p:nvPr/>
        </p:nvSpPr>
        <p:spPr>
          <a:xfrm>
            <a:off x="0" y="0"/>
            <a:ext cx="12188952" cy="566928"/>
          </a:xfrm>
          <a:prstGeom prst="rect">
            <a:avLst/>
          </a:prstGeom>
          <a:solidFill>
            <a:srgbClr val="B23A3A"/>
          </a:solidFill>
          <a:ln/>
        </p:spPr>
      </p:sp>
      <p:sp>
        <p:nvSpPr>
          <p:cNvPr id="3" name="Text 1"/>
          <p:cNvSpPr/>
          <p:nvPr/>
        </p:nvSpPr>
        <p:spPr>
          <a:xfrm>
            <a:off x="411480" y="0"/>
            <a:ext cx="11338560" cy="566928"/>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 긴급 검토 필요 — 기시공 프로젝트 계산서 오류 의심</a:t>
            </a:r>
            <a:endParaRPr lang="en-US" sz="1600" dirty="0"/>
          </a:p>
        </p:txBody>
      </p:sp>
      <p:sp>
        <p:nvSpPr>
          <p:cNvPr id="4" name="Text 2"/>
          <p:cNvSpPr/>
          <p:nvPr/>
        </p:nvSpPr>
        <p:spPr>
          <a:xfrm>
            <a:off x="411480" y="777240"/>
            <a:ext cx="11338560" cy="548640"/>
          </a:xfrm>
          <a:prstGeom prst="rect">
            <a:avLst/>
          </a:prstGeom>
          <a:noFill/>
          <a:ln/>
        </p:spPr>
        <p:txBody>
          <a:bodyPr wrap="square" rtlCol="0" anchor="ctr"/>
          <a:lstStyle/>
          <a:p>
            <a:pPr indent="0" marL="0">
              <a:buNone/>
            </a:pPr>
            <a:r>
              <a:rPr lang="en-US" sz="1800" b="1" dirty="0">
                <a:solidFill>
                  <a:srgbClr val="FFD6D6"/>
                </a:solidFill>
                <a:latin typeface="맑은 고딕" pitchFamily="34" charset="0"/>
                <a:ea typeface="맑은 고딕" pitchFamily="34" charset="-122"/>
                <a:cs typeface="맑은 고딕" pitchFamily="34" charset="-120"/>
              </a:rPr>
              <a:t>TC2C 계산서(SHAHEEN Project) — 그룹 콘크리트파괴(Ncbg) 검토 비교기준이 ACI 318-19 정의와 다릅니다</a:t>
            </a:r>
            <a:endParaRPr lang="en-US" sz="1800" dirty="0"/>
          </a:p>
        </p:txBody>
      </p:sp>
      <p:sp>
        <p:nvSpPr>
          <p:cNvPr id="5" name="Shape 3"/>
          <p:cNvSpPr/>
          <p:nvPr/>
        </p:nvSpPr>
        <p:spPr>
          <a:xfrm>
            <a:off x="411480" y="1463040"/>
            <a:ext cx="11338560" cy="1188720"/>
          </a:xfrm>
          <a:prstGeom prst="rect">
            <a:avLst/>
          </a:prstGeom>
          <a:solidFill>
            <a:srgbClr val="2A0D0D"/>
          </a:solidFill>
          <a:ln w="15875">
            <a:solidFill>
              <a:srgbClr val="B23A3A"/>
            </a:solidFill>
            <a:prstDash val="solid"/>
          </a:ln>
        </p:spPr>
      </p:sp>
      <p:sp>
        <p:nvSpPr>
          <p:cNvPr id="6" name="Text 4"/>
          <p:cNvSpPr/>
          <p:nvPr/>
        </p:nvSpPr>
        <p:spPr>
          <a:xfrm>
            <a:off x="640080" y="1572768"/>
            <a:ext cx="10881360" cy="457200"/>
          </a:xfrm>
          <a:prstGeom prst="rect">
            <a:avLst/>
          </a:prstGeom>
          <a:noFill/>
          <a:ln/>
        </p:spPr>
        <p:txBody>
          <a:bodyPr wrap="square"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결론부터: 이 계산서의 그룹 콘크리트파괴(T2) 검토는 코드 요구사항과 다른 기준으로 O.K를 낸 것으로 판단됩니다.</a:t>
            </a:r>
            <a:endParaRPr lang="en-US" sz="1400" dirty="0"/>
          </a:p>
        </p:txBody>
      </p:sp>
      <p:sp>
        <p:nvSpPr>
          <p:cNvPr id="7" name="Text 5"/>
          <p:cNvSpPr/>
          <p:nvPr/>
        </p:nvSpPr>
        <p:spPr>
          <a:xfrm>
            <a:off x="640080" y="1965960"/>
            <a:ext cx="10881360" cy="594360"/>
          </a:xfrm>
          <a:prstGeom prst="rect">
            <a:avLst/>
          </a:prstGeom>
          <a:noFill/>
          <a:ln/>
        </p:spPr>
        <p:txBody>
          <a:bodyPr wrap="square" rtlCol="0" anchor="ctr"/>
          <a:lstStyle/>
          <a:p>
            <a:pPr indent="0" marL="0">
              <a:lnSpc>
                <a:spcPct val="130000"/>
              </a:lnSpc>
              <a:buNone/>
            </a:pPr>
            <a:r>
              <a:rPr lang="en-US" sz="1100" dirty="0">
                <a:solidFill>
                  <a:srgbClr val="F0C8C8"/>
                </a:solidFill>
                <a:latin typeface="맑은 고딕" pitchFamily="34" charset="0"/>
                <a:ea typeface="맑은 고딕" pitchFamily="34" charset="-122"/>
                <a:cs typeface="맑은 고딕" pitchFamily="34" charset="-120"/>
              </a:rPr>
              <a:t>ACI 318-19 원문 변수 정의(Nua = “factored tensile force applied to anchor or group of anchors”)에 따르면, Ncbg(그룹 파괴강도)는 그 파괴면을 공유하는 인장측 앵커 전체의 합산 수요와 비교해야 합니다 — 앵커 1개의 피크값과 비교하는 것이 아닙니다.</a:t>
            </a:r>
            <a:endParaRPr lang="en-US" sz="1100" dirty="0"/>
          </a:p>
        </p:txBody>
      </p:sp>
      <p:sp>
        <p:nvSpPr>
          <p:cNvPr id="8" name="Shape 6"/>
          <p:cNvSpPr/>
          <p:nvPr/>
        </p:nvSpPr>
        <p:spPr>
          <a:xfrm>
            <a:off x="411480" y="2834640"/>
            <a:ext cx="11338560" cy="1417320"/>
          </a:xfrm>
          <a:prstGeom prst="rect">
            <a:avLst/>
          </a:prstGeom>
          <a:solidFill>
            <a:srgbClr val="1A0808"/>
          </a:solidFill>
          <a:ln w="12700">
            <a:solidFill>
              <a:srgbClr val="4A2020"/>
            </a:solidFill>
            <a:prstDash val="solid"/>
          </a:ln>
        </p:spPr>
      </p:sp>
      <p:sp>
        <p:nvSpPr>
          <p:cNvPr id="9" name="Text 7"/>
          <p:cNvSpPr/>
          <p:nvPr/>
        </p:nvSpPr>
        <p:spPr>
          <a:xfrm>
            <a:off x="640080" y="2926080"/>
            <a:ext cx="10881360" cy="274320"/>
          </a:xfrm>
          <a:prstGeom prst="rect">
            <a:avLst/>
          </a:prstGeom>
          <a:noFill/>
          <a:ln/>
        </p:spPr>
        <p:txBody>
          <a:bodyPr wrap="square" rtlCol="0" anchor="ctr"/>
          <a:lstStyle/>
          <a:p>
            <a:pPr indent="0" marL="0">
              <a:buNone/>
            </a:pPr>
            <a:r>
              <a:rPr lang="en-US" sz="1150" b="1" dirty="0">
                <a:solidFill>
                  <a:srgbClr val="9FB3CC"/>
                </a:solidFill>
                <a:latin typeface="맑은 고딕" pitchFamily="34" charset="0"/>
                <a:ea typeface="맑은 고딕" pitchFamily="34" charset="-122"/>
                <a:cs typeface="맑은 고딕" pitchFamily="34" charset="-120"/>
              </a:rPr>
              <a:t>TC2C 계산서가 실제로 한 비교</a:t>
            </a:r>
            <a:endParaRPr lang="en-US" sz="1150" dirty="0"/>
          </a:p>
        </p:txBody>
      </p:sp>
      <p:sp>
        <p:nvSpPr>
          <p:cNvPr id="10" name="Text 8"/>
          <p:cNvSpPr/>
          <p:nvPr/>
        </p:nvSpPr>
        <p:spPr>
          <a:xfrm>
            <a:off x="822960" y="3246120"/>
            <a:ext cx="3108960" cy="822960"/>
          </a:xfrm>
          <a:prstGeom prst="rect">
            <a:avLst/>
          </a:prstGeom>
          <a:noFill/>
          <a:ln/>
        </p:spPr>
        <p:txBody>
          <a:bodyPr wrap="square" rtlCol="0" anchor="ctr"/>
          <a:lstStyle/>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409.49 kN</a:t>
            </a:r>
            <a:endParaRPr lang="en-US" sz="1300" dirty="0"/>
          </a:p>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(앵커 1개)</a:t>
            </a:r>
            <a:endParaRPr lang="en-US" sz="1300" dirty="0"/>
          </a:p>
        </p:txBody>
      </p:sp>
      <p:sp>
        <p:nvSpPr>
          <p:cNvPr id="11" name="Text 9"/>
          <p:cNvSpPr/>
          <p:nvPr/>
        </p:nvSpPr>
        <p:spPr>
          <a:xfrm>
            <a:off x="4114800" y="3429000"/>
            <a:ext cx="731520" cy="457200"/>
          </a:xfrm>
          <a:prstGeom prst="rect">
            <a:avLst/>
          </a:prstGeom>
          <a:noFill/>
          <a:ln/>
        </p:spPr>
        <p:txBody>
          <a:bodyPr wrap="square" rtlCol="0" anchor="ctr"/>
          <a:lstStyle/>
          <a:p>
            <a:pPr algn="ctr" indent="0" marL="0">
              <a:buNone/>
            </a:pPr>
            <a:r>
              <a:rPr lang="en-US" sz="1600" b="1" dirty="0">
                <a:solidFill>
                  <a:srgbClr val="9FB3CC"/>
                </a:solidFill>
                <a:latin typeface="맑은 고딕" pitchFamily="34" charset="0"/>
                <a:ea typeface="맑은 고딕" pitchFamily="34" charset="-122"/>
                <a:cs typeface="맑은 고딕" pitchFamily="34" charset="-120"/>
              </a:rPr>
              <a:t>vs</a:t>
            </a:r>
            <a:endParaRPr lang="en-US" sz="1600" dirty="0"/>
          </a:p>
        </p:txBody>
      </p:sp>
      <p:sp>
        <p:nvSpPr>
          <p:cNvPr id="12" name="Text 10"/>
          <p:cNvSpPr/>
          <p:nvPr/>
        </p:nvSpPr>
        <p:spPr>
          <a:xfrm>
            <a:off x="5029200" y="3246120"/>
            <a:ext cx="3657600" cy="822960"/>
          </a:xfrm>
          <a:prstGeom prst="rect">
            <a:avLst/>
          </a:prstGeom>
          <a:noFill/>
          <a:ln/>
        </p:spPr>
        <p:txBody>
          <a:bodyPr wrap="square" rtlCol="0" anchor="ctr"/>
          <a:lstStyle/>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501.63 kN</a:t>
            </a:r>
            <a:endParaRPr lang="en-US" sz="1300" dirty="0"/>
          </a:p>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(그룹 전체 저항력)</a:t>
            </a:r>
            <a:endParaRPr lang="en-US" sz="1300" dirty="0"/>
          </a:p>
        </p:txBody>
      </p:sp>
      <p:sp>
        <p:nvSpPr>
          <p:cNvPr id="13" name="Text 11"/>
          <p:cNvSpPr/>
          <p:nvPr/>
        </p:nvSpPr>
        <p:spPr>
          <a:xfrm>
            <a:off x="8869680" y="3337560"/>
            <a:ext cx="1188720" cy="548640"/>
          </a:xfrm>
          <a:prstGeom prst="rect">
            <a:avLst/>
          </a:prstGeom>
          <a:noFill/>
          <a:ln/>
        </p:spPr>
        <p:txBody>
          <a:bodyPr wrap="square" rtlCol="0" anchor="ctr"/>
          <a:lstStyle/>
          <a:p>
            <a:pPr algn="ctr" indent="0" marL="0">
              <a:buNone/>
            </a:pPr>
            <a:r>
              <a:rPr lang="en-US" sz="2000" b="1" dirty="0">
                <a:solidFill>
                  <a:srgbClr val="2E7D45"/>
                </a:solidFill>
                <a:latin typeface="IBM Plex Mono" pitchFamily="34" charset="0"/>
                <a:ea typeface="IBM Plex Mono" pitchFamily="34" charset="-122"/>
                <a:cs typeface="IBM Plex Mono" pitchFamily="34" charset="-120"/>
              </a:rPr>
              <a:t>82%</a:t>
            </a:r>
            <a:endParaRPr lang="en-US" sz="2000" dirty="0"/>
          </a:p>
        </p:txBody>
      </p:sp>
      <p:sp>
        <p:nvSpPr>
          <p:cNvPr id="14" name="Shape 12"/>
          <p:cNvSpPr/>
          <p:nvPr/>
        </p:nvSpPr>
        <p:spPr>
          <a:xfrm>
            <a:off x="10195560" y="3364992"/>
            <a:ext cx="1371600" cy="457200"/>
          </a:xfrm>
          <a:prstGeom prst="roundRect">
            <a:avLst>
              <a:gd name="adj" fmla="val 12000"/>
            </a:avLst>
          </a:prstGeom>
          <a:solidFill>
            <a:srgbClr val="2E7D45"/>
          </a:solidFill>
          <a:ln/>
        </p:spPr>
      </p:sp>
      <p:sp>
        <p:nvSpPr>
          <p:cNvPr id="15" name="Text 13"/>
          <p:cNvSpPr/>
          <p:nvPr/>
        </p:nvSpPr>
        <p:spPr>
          <a:xfrm>
            <a:off x="10195560" y="3364992"/>
            <a:ext cx="1371600" cy="457200"/>
          </a:xfrm>
          <a:prstGeom prst="rect">
            <a:avLst/>
          </a:prstGeom>
          <a:noFill/>
          <a:ln/>
        </p:spPr>
        <p:txBody>
          <a:bodyPr wrap="square" rtlCol="0" anchor="ctr"/>
          <a:lstStyle/>
          <a:p>
            <a:pPr algn="ctr" indent="0" marL="0">
              <a:buNone/>
            </a:pPr>
            <a:r>
              <a:rPr lang="en-US" sz="1500" b="1" dirty="0">
                <a:solidFill>
                  <a:srgbClr val="1A0808"/>
                </a:solidFill>
                <a:latin typeface="맑은 고딕" pitchFamily="34" charset="0"/>
                <a:ea typeface="맑은 고딕" pitchFamily="34" charset="-122"/>
                <a:cs typeface="맑은 고딕" pitchFamily="34" charset="-120"/>
              </a:rPr>
              <a:t>O.K</a:t>
            </a:r>
            <a:endParaRPr lang="en-US" sz="1500" dirty="0"/>
          </a:p>
        </p:txBody>
      </p:sp>
      <p:sp>
        <p:nvSpPr>
          <p:cNvPr id="16" name="Shape 14"/>
          <p:cNvSpPr/>
          <p:nvPr/>
        </p:nvSpPr>
        <p:spPr>
          <a:xfrm>
            <a:off x="411480" y="4434840"/>
            <a:ext cx="11338560" cy="1417320"/>
          </a:xfrm>
          <a:prstGeom prst="rect">
            <a:avLst/>
          </a:prstGeom>
          <a:solidFill>
            <a:srgbClr val="1A0808"/>
          </a:solidFill>
          <a:ln w="12700">
            <a:solidFill>
              <a:srgbClr val="4A2020"/>
            </a:solidFill>
            <a:prstDash val="solid"/>
          </a:ln>
        </p:spPr>
      </p:sp>
      <p:sp>
        <p:nvSpPr>
          <p:cNvPr id="17" name="Text 15"/>
          <p:cNvSpPr/>
          <p:nvPr/>
        </p:nvSpPr>
        <p:spPr>
          <a:xfrm>
            <a:off x="640080" y="4526280"/>
            <a:ext cx="10881360" cy="274320"/>
          </a:xfrm>
          <a:prstGeom prst="rect">
            <a:avLst/>
          </a:prstGeom>
          <a:noFill/>
          <a:ln/>
        </p:spPr>
        <p:txBody>
          <a:bodyPr wrap="square" rtlCol="0" anchor="ctr"/>
          <a:lstStyle/>
          <a:p>
            <a:pPr indent="0" marL="0">
              <a:buNone/>
            </a:pPr>
            <a:r>
              <a:rPr lang="en-US" sz="1150" b="1" dirty="0">
                <a:solidFill>
                  <a:srgbClr val="9FB3CC"/>
                </a:solidFill>
                <a:latin typeface="맑은 고딕" pitchFamily="34" charset="0"/>
                <a:ea typeface="맑은 고딕" pitchFamily="34" charset="-122"/>
                <a:cs typeface="맑은 고딕" pitchFamily="34" charset="-120"/>
              </a:rPr>
              <a:t>ACI 318-19 §17.6.2.1(b) 정의대로 한 비교</a:t>
            </a:r>
            <a:endParaRPr lang="en-US" sz="1150" dirty="0"/>
          </a:p>
        </p:txBody>
      </p:sp>
      <p:sp>
        <p:nvSpPr>
          <p:cNvPr id="18" name="Text 16"/>
          <p:cNvSpPr/>
          <p:nvPr/>
        </p:nvSpPr>
        <p:spPr>
          <a:xfrm>
            <a:off x="822960" y="4846320"/>
            <a:ext cx="3108960" cy="822960"/>
          </a:xfrm>
          <a:prstGeom prst="rect">
            <a:avLst/>
          </a:prstGeom>
          <a:noFill/>
          <a:ln/>
        </p:spPr>
        <p:txBody>
          <a:bodyPr wrap="square" rtlCol="0" anchor="ctr"/>
          <a:lstStyle/>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7,522.56 kN</a:t>
            </a:r>
            <a:endParaRPr lang="en-US" sz="1300" dirty="0"/>
          </a:p>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(인장측 앵커 12개 합산)</a:t>
            </a:r>
            <a:endParaRPr lang="en-US" sz="1300" dirty="0"/>
          </a:p>
        </p:txBody>
      </p:sp>
      <p:sp>
        <p:nvSpPr>
          <p:cNvPr id="19" name="Text 17"/>
          <p:cNvSpPr/>
          <p:nvPr/>
        </p:nvSpPr>
        <p:spPr>
          <a:xfrm>
            <a:off x="4114800" y="5029200"/>
            <a:ext cx="731520" cy="457200"/>
          </a:xfrm>
          <a:prstGeom prst="rect">
            <a:avLst/>
          </a:prstGeom>
          <a:noFill/>
          <a:ln/>
        </p:spPr>
        <p:txBody>
          <a:bodyPr wrap="square" rtlCol="0" anchor="ctr"/>
          <a:lstStyle/>
          <a:p>
            <a:pPr algn="ctr" indent="0" marL="0">
              <a:buNone/>
            </a:pPr>
            <a:r>
              <a:rPr lang="en-US" sz="1600" b="1" dirty="0">
                <a:solidFill>
                  <a:srgbClr val="9FB3CC"/>
                </a:solidFill>
                <a:latin typeface="맑은 고딕" pitchFamily="34" charset="0"/>
                <a:ea typeface="맑은 고딕" pitchFamily="34" charset="-122"/>
                <a:cs typeface="맑은 고딕" pitchFamily="34" charset="-120"/>
              </a:rPr>
              <a:t>vs</a:t>
            </a:r>
            <a:endParaRPr lang="en-US" sz="1600" dirty="0"/>
          </a:p>
        </p:txBody>
      </p:sp>
      <p:sp>
        <p:nvSpPr>
          <p:cNvPr id="20" name="Text 18"/>
          <p:cNvSpPr/>
          <p:nvPr/>
        </p:nvSpPr>
        <p:spPr>
          <a:xfrm>
            <a:off x="5029200" y="4846320"/>
            <a:ext cx="3657600" cy="822960"/>
          </a:xfrm>
          <a:prstGeom prst="rect">
            <a:avLst/>
          </a:prstGeom>
          <a:noFill/>
          <a:ln/>
        </p:spPr>
        <p:txBody>
          <a:bodyPr wrap="square" rtlCol="0" anchor="ctr"/>
          <a:lstStyle/>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재검증 필요 *</a:t>
            </a:r>
            <a:endParaRPr lang="en-US" sz="1300" dirty="0"/>
          </a:p>
          <a:p>
            <a:pPr indent="0" marL="0">
              <a:lnSpc>
                <a:spcPct val="115000"/>
              </a:lnSpc>
              <a:buNone/>
            </a:pPr>
            <a:r>
              <a:rPr lang="en-US" sz="1300" b="1" dirty="0">
                <a:solidFill>
                  <a:srgbClr val="FFFFFF"/>
                </a:solidFill>
                <a:latin typeface="IBM Plex Mono" pitchFamily="34" charset="0"/>
                <a:ea typeface="IBM Plex Mono" pitchFamily="34" charset="-122"/>
                <a:cs typeface="IBM Plex Mono" pitchFamily="34" charset="-120"/>
              </a:rPr>
              <a:t>(그룹 전체 저항력, 철근보강 포함)</a:t>
            </a:r>
            <a:endParaRPr lang="en-US" sz="1300" dirty="0"/>
          </a:p>
        </p:txBody>
      </p:sp>
      <p:sp>
        <p:nvSpPr>
          <p:cNvPr id="21" name="Text 19"/>
          <p:cNvSpPr/>
          <p:nvPr/>
        </p:nvSpPr>
        <p:spPr>
          <a:xfrm>
            <a:off x="8869680" y="4937760"/>
            <a:ext cx="1188720" cy="548640"/>
          </a:xfrm>
          <a:prstGeom prst="rect">
            <a:avLst/>
          </a:prstGeom>
          <a:noFill/>
          <a:ln/>
        </p:spPr>
        <p:txBody>
          <a:bodyPr wrap="square" rtlCol="0" anchor="ctr"/>
          <a:lstStyle/>
          <a:p>
            <a:pPr algn="ctr" indent="0" marL="0">
              <a:buNone/>
            </a:pPr>
            <a:r>
              <a:rPr lang="en-US" sz="2000" b="1" dirty="0">
                <a:solidFill>
                  <a:srgbClr val="C9A227"/>
                </a:solidFill>
                <a:latin typeface="IBM Plex Mono" pitchFamily="34" charset="0"/>
                <a:ea typeface="IBM Plex Mono" pitchFamily="34" charset="-122"/>
                <a:cs typeface="IBM Plex Mono" pitchFamily="34" charset="-120"/>
              </a:rPr>
              <a:t>?</a:t>
            </a:r>
            <a:endParaRPr lang="en-US" sz="2000" dirty="0"/>
          </a:p>
        </p:txBody>
      </p:sp>
      <p:sp>
        <p:nvSpPr>
          <p:cNvPr id="22" name="Shape 20"/>
          <p:cNvSpPr/>
          <p:nvPr/>
        </p:nvSpPr>
        <p:spPr>
          <a:xfrm>
            <a:off x="10195560" y="4965192"/>
            <a:ext cx="1371600" cy="457200"/>
          </a:xfrm>
          <a:prstGeom prst="roundRect">
            <a:avLst>
              <a:gd name="adj" fmla="val 12000"/>
            </a:avLst>
          </a:prstGeom>
          <a:solidFill>
            <a:srgbClr val="C9A227"/>
          </a:solidFill>
          <a:ln/>
        </p:spPr>
      </p:sp>
      <p:sp>
        <p:nvSpPr>
          <p:cNvPr id="23" name="Text 21"/>
          <p:cNvSpPr/>
          <p:nvPr/>
        </p:nvSpPr>
        <p:spPr>
          <a:xfrm>
            <a:off x="10195560" y="4965192"/>
            <a:ext cx="1371600" cy="457200"/>
          </a:xfrm>
          <a:prstGeom prst="rect">
            <a:avLst/>
          </a:prstGeom>
          <a:noFill/>
          <a:ln/>
        </p:spPr>
        <p:txBody>
          <a:bodyPr wrap="square" rtlCol="0" anchor="ctr"/>
          <a:lstStyle/>
          <a:p>
            <a:pPr algn="ctr" indent="0" marL="0">
              <a:buNone/>
            </a:pPr>
            <a:r>
              <a:rPr lang="en-US" sz="1500" b="1" dirty="0">
                <a:solidFill>
                  <a:srgbClr val="1A0808"/>
                </a:solidFill>
                <a:latin typeface="맑은 고딕" pitchFamily="34" charset="0"/>
                <a:ea typeface="맑은 고딕" pitchFamily="34" charset="-122"/>
                <a:cs typeface="맑은 고딕" pitchFamily="34" charset="-120"/>
              </a:rPr>
              <a:t>재계산</a:t>
            </a:r>
            <a:endParaRPr lang="en-US" sz="1500" dirty="0"/>
          </a:p>
        </p:txBody>
      </p:sp>
      <p:sp>
        <p:nvSpPr>
          <p:cNvPr id="24" name="Text 22"/>
          <p:cNvSpPr/>
          <p:nvPr/>
        </p:nvSpPr>
        <p:spPr>
          <a:xfrm>
            <a:off x="411480" y="6080760"/>
            <a:ext cx="11338560" cy="365760"/>
          </a:xfrm>
          <a:prstGeom prst="rect">
            <a:avLst/>
          </a:prstGeom>
          <a:noFill/>
          <a:ln/>
        </p:spPr>
        <p:txBody>
          <a:bodyPr wrap="square" rtlCol="0" anchor="ctr"/>
          <a:lstStyle/>
          <a:p>
            <a:pPr indent="0" marL="0">
              <a:buNone/>
            </a:pPr>
            <a:r>
              <a:rPr lang="en-US" sz="900" i="1" dirty="0">
                <a:solidFill>
                  <a:srgbClr val="F0C8C8"/>
                </a:solidFill>
                <a:latin typeface="맑은 고딕" pitchFamily="34" charset="0"/>
                <a:ea typeface="맑은 고딕" pitchFamily="34" charset="-122"/>
                <a:cs typeface="맑은 고딕" pitchFamily="34" charset="-120"/>
              </a:rPr>
              <a:t>* 최초 보고 시 이 값을 6,722.52kN으로 기재했으나, 별도의 계산 로직 버그(N1 산정 반경 오류, 다음 슬라이드 참고)로 과대산정된 것으로 추가 확인되어 정정합니다. 버그 수정 후 재계산 결과를 확정하는 대로 갱신 예정입니다.</a:t>
            </a:r>
            <a:endParaRPr lang="en-US" sz="900" dirty="0"/>
          </a:p>
        </p:txBody>
      </p:sp>
      <p:sp>
        <p:nvSpPr>
          <p:cNvPr id="25" name="Text 23"/>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6E7EA0"/>
                </a:solidFill>
                <a:latin typeface="맑은 고딕" pitchFamily="34" charset="0"/>
                <a:ea typeface="맑은 고딕" pitchFamily="34" charset="-122"/>
                <a:cs typeface="맑은 고딕"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0" y="0"/>
            <a:ext cx="12188952" cy="658368"/>
          </a:xfrm>
          <a:prstGeom prst="rect">
            <a:avLst/>
          </a:prstGeom>
          <a:solidFill>
            <a:srgbClr val="13294B"/>
          </a:solidFill>
          <a:ln/>
        </p:spPr>
      </p:sp>
      <p:sp>
        <p:nvSpPr>
          <p:cNvPr id="3" name="Text 1"/>
          <p:cNvSpPr/>
          <p:nvPr/>
        </p:nvSpPr>
        <p:spPr>
          <a:xfrm>
            <a:off x="411480" y="0"/>
            <a:ext cx="11338560" cy="658368"/>
          </a:xfrm>
          <a:prstGeom prst="rect">
            <a:avLst/>
          </a:prstGeom>
          <a:noFill/>
          <a:ln/>
        </p:spPr>
        <p:txBody>
          <a:bodyPr wrap="square" rtlCol="0" anchor="ctr"/>
          <a:lstStyle/>
          <a:p>
            <a:pPr indent="0" marL="0">
              <a:buNone/>
            </a:pPr>
            <a:r>
              <a:rPr lang="en-US" sz="1900" b="1" dirty="0">
                <a:solidFill>
                  <a:srgbClr val="FFFFFF"/>
                </a:solidFill>
                <a:latin typeface="맑은 고딕" pitchFamily="34" charset="0"/>
                <a:ea typeface="맑은 고딕" pitchFamily="34" charset="-122"/>
                <a:cs typeface="맑은 고딕" pitchFamily="34" charset="-120"/>
              </a:rPr>
              <a:t>발견 경위, 코드 근거 및 후속 조치 제안</a:t>
            </a:r>
            <a:endParaRPr lang="en-US" sz="1900" dirty="0"/>
          </a:p>
        </p:txBody>
      </p:sp>
      <p:sp>
        <p:nvSpPr>
          <p:cNvPr id="4" name="Text 2"/>
          <p:cNvSpPr/>
          <p:nvPr/>
        </p:nvSpPr>
        <p:spPr>
          <a:xfrm>
            <a:off x="411480" y="868680"/>
            <a:ext cx="5486400" cy="292608"/>
          </a:xfrm>
          <a:prstGeom prst="rect">
            <a:avLst/>
          </a:prstGeom>
          <a:noFill/>
          <a:ln/>
        </p:spPr>
        <p:txBody>
          <a:bodyPr wrap="square" rtlCol="0" anchor="ctr"/>
          <a:lstStyle/>
          <a:p>
            <a:pPr indent="0" marL="0">
              <a:buNone/>
            </a:pPr>
            <a:r>
              <a:rPr lang="en-US" sz="1300" b="1" dirty="0">
                <a:solidFill>
                  <a:srgbClr val="13294B"/>
                </a:solidFill>
                <a:latin typeface="맑은 고딕" pitchFamily="34" charset="0"/>
                <a:ea typeface="맑은 고딕" pitchFamily="34" charset="-122"/>
                <a:cs typeface="맑은 고딕" pitchFamily="34" charset="-120"/>
              </a:rPr>
              <a:t>발견 경위</a:t>
            </a:r>
            <a:endParaRPr lang="en-US" sz="1300" dirty="0"/>
          </a:p>
        </p:txBody>
      </p:sp>
      <p:sp>
        <p:nvSpPr>
          <p:cNvPr id="5" name="Shape 3"/>
          <p:cNvSpPr/>
          <p:nvPr/>
        </p:nvSpPr>
        <p:spPr>
          <a:xfrm>
            <a:off x="411480" y="1188720"/>
            <a:ext cx="11338560" cy="1874520"/>
          </a:xfrm>
          <a:prstGeom prst="rect">
            <a:avLst/>
          </a:prstGeom>
          <a:solidFill>
            <a:srgbClr val="FFFFFF"/>
          </a:solidFill>
          <a:ln w="12700">
            <a:solidFill>
              <a:srgbClr val="DCD9D2"/>
            </a:solidFill>
            <a:prstDash val="solid"/>
          </a:ln>
        </p:spPr>
      </p:sp>
      <p:sp>
        <p:nvSpPr>
          <p:cNvPr id="6" name="Text 4"/>
          <p:cNvSpPr/>
          <p:nvPr/>
        </p:nvSpPr>
        <p:spPr>
          <a:xfrm>
            <a:off x="640080" y="1298448"/>
            <a:ext cx="10881360" cy="1691640"/>
          </a:xfrm>
          <a:prstGeom prst="rect">
            <a:avLst/>
          </a:prstGeom>
          <a:noFill/>
          <a:ln/>
        </p:spPr>
        <p:txBody>
          <a:bodyPr wrap="square" rtlCol="0" anchor="ctr"/>
          <a:lstStyle/>
          <a:p>
            <a:pPr marL="342900" indent="-342900">
              <a:lnSpc>
                <a:spcPct val="120000"/>
              </a:lnSpc>
              <a:spcAft>
                <a:spcPts val="500"/>
              </a:spcAft>
              <a:buSzPct val="100000"/>
              <a:buChar char="•"/>
            </a:pPr>
            <a:r>
              <a:rPr lang="en-US" sz="1030" dirty="0">
                <a:solidFill>
                  <a:srgbClr val="1F2430"/>
                </a:solidFill>
                <a:latin typeface="맑은 고딕" pitchFamily="34" charset="0"/>
                <a:ea typeface="맑은 고딕" pitchFamily="34" charset="-122"/>
                <a:cs typeface="맑은 고딕" pitchFamily="34" charset="-120"/>
              </a:rPr>
              <a:t>HTML 계산 시스템으로 TC2C와 동일 LC(223)를 재계산하는 과정에서 인장 결과가 이례적으로 크게 차이남을 발견</a:t>
            </a:r>
            <a:endParaRPr lang="en-US" sz="1030" dirty="0"/>
          </a:p>
          <a:p>
            <a:pPr marL="342900" indent="-342900">
              <a:lnSpc>
                <a:spcPct val="120000"/>
              </a:lnSpc>
              <a:spcAft>
                <a:spcPts val="500"/>
              </a:spcAft>
              <a:buSzPct val="100000"/>
              <a:buChar char="•"/>
            </a:pPr>
            <a:r>
              <a:rPr lang="en-US" sz="1030" dirty="0">
                <a:solidFill>
                  <a:srgbClr val="1F2430"/>
                </a:solidFill>
                <a:latin typeface="맑은 고딕" pitchFamily="34" charset="0"/>
                <a:ea typeface="맑은 고딕" pitchFamily="34" charset="-122"/>
                <a:cs typeface="맑은 고딕" pitchFamily="34" charset="-120"/>
              </a:rPr>
              <a:t>원인 추적: HTML 시스템은 ACI 318-19 §17.6.2.1(b) 정의대로 그룹 콘크리트파괴 검토 시 인장측 앵커 전체 합산 수요(Nua,g)와 비교</a:t>
            </a:r>
            <a:endParaRPr lang="en-US" sz="1030" dirty="0"/>
          </a:p>
          <a:p>
            <a:pPr marL="342900" indent="-342900">
              <a:lnSpc>
                <a:spcPct val="120000"/>
              </a:lnSpc>
              <a:spcAft>
                <a:spcPts val="500"/>
              </a:spcAft>
              <a:buSzPct val="100000"/>
              <a:buChar char="•"/>
            </a:pPr>
            <a:r>
              <a:rPr lang="en-US" sz="1030" dirty="0">
                <a:solidFill>
                  <a:srgbClr val="1F2430"/>
                </a:solidFill>
                <a:latin typeface="맑은 고딕" pitchFamily="34" charset="0"/>
                <a:ea typeface="맑은 고딕" pitchFamily="34" charset="-122"/>
                <a:cs typeface="맑은 고딕" pitchFamily="34" charset="-120"/>
              </a:rPr>
              <a:t>TC2C는 동일 항목에서 앵커 1개의 피크 인장력만을 그룹 저항력과 비교 — 비교 대상의 물리적 단위(개별 vs 그룹)가 다름을 확인</a:t>
            </a:r>
            <a:endParaRPr lang="en-US" sz="1030" dirty="0"/>
          </a:p>
          <a:p>
            <a:pPr marL="342900" indent="-342900">
              <a:lnSpc>
                <a:spcPct val="120000"/>
              </a:lnSpc>
              <a:spcAft>
                <a:spcPts val="500"/>
              </a:spcAft>
              <a:buSzPct val="100000"/>
              <a:buChar char="•"/>
            </a:pPr>
            <a:r>
              <a:rPr lang="en-US" sz="1030" dirty="0">
                <a:solidFill>
                  <a:srgbClr val="1F2430"/>
                </a:solidFill>
                <a:latin typeface="맑은 고딕" pitchFamily="34" charset="0"/>
                <a:ea typeface="맑은 고딕" pitchFamily="34" charset="-122"/>
                <a:cs typeface="맑은 고딕" pitchFamily="34" charset="-120"/>
              </a:rPr>
              <a:t>저항력 수치 검증 중 별도 버그 추가 발견: 보강철근 유효개수(N1) 산정 시 ACI §17.6.2.1.2 수정 hef'(322mm) 대신 원본 hef(1608mm)를 사용 — 0.5hef 판정 반경이 5배 과대(161→804mm)해져 N1·Nnr이 과대산정되던 것을 확인, 즉시 수정 완료</a:t>
            </a:r>
            <a:endParaRPr lang="en-US" sz="1030" dirty="0"/>
          </a:p>
        </p:txBody>
      </p:sp>
      <p:sp>
        <p:nvSpPr>
          <p:cNvPr id="7" name="Text 5"/>
          <p:cNvSpPr/>
          <p:nvPr/>
        </p:nvSpPr>
        <p:spPr>
          <a:xfrm>
            <a:off x="411480" y="3246120"/>
            <a:ext cx="7315200" cy="292608"/>
          </a:xfrm>
          <a:prstGeom prst="rect">
            <a:avLst/>
          </a:prstGeom>
          <a:noFill/>
          <a:ln/>
        </p:spPr>
        <p:txBody>
          <a:bodyPr wrap="square" rtlCol="0" anchor="ctr"/>
          <a:lstStyle/>
          <a:p>
            <a:pPr indent="0" marL="0">
              <a:buNone/>
            </a:pPr>
            <a:r>
              <a:rPr lang="en-US" sz="1300" b="1" dirty="0">
                <a:solidFill>
                  <a:srgbClr val="13294B"/>
                </a:solidFill>
                <a:latin typeface="맑은 고딕" pitchFamily="34" charset="0"/>
                <a:ea typeface="맑은 고딕" pitchFamily="34" charset="-122"/>
                <a:cs typeface="맑은 고딕" pitchFamily="34" charset="-120"/>
              </a:rPr>
              <a:t>코드 근거 — ACI 318-19 변수 정의 원문</a:t>
            </a:r>
            <a:endParaRPr lang="en-US" sz="1300" dirty="0"/>
          </a:p>
        </p:txBody>
      </p:sp>
      <p:sp>
        <p:nvSpPr>
          <p:cNvPr id="8" name="Shape 6"/>
          <p:cNvSpPr/>
          <p:nvPr/>
        </p:nvSpPr>
        <p:spPr>
          <a:xfrm>
            <a:off x="411480" y="3566160"/>
            <a:ext cx="11338560" cy="914400"/>
          </a:xfrm>
          <a:prstGeom prst="rect">
            <a:avLst/>
          </a:prstGeom>
          <a:solidFill>
            <a:srgbClr val="0D1420"/>
          </a:solidFill>
          <a:ln w="12700">
            <a:solidFill>
              <a:srgbClr val="13294B"/>
            </a:solidFill>
            <a:prstDash val="solid"/>
          </a:ln>
        </p:spPr>
      </p:sp>
      <p:sp>
        <p:nvSpPr>
          <p:cNvPr id="9" name="Text 7"/>
          <p:cNvSpPr/>
          <p:nvPr/>
        </p:nvSpPr>
        <p:spPr>
          <a:xfrm>
            <a:off x="640080" y="3675888"/>
            <a:ext cx="10881360" cy="292608"/>
          </a:xfrm>
          <a:prstGeom prst="rect">
            <a:avLst/>
          </a:prstGeom>
          <a:noFill/>
          <a:ln/>
        </p:spPr>
        <p:txBody>
          <a:bodyPr wrap="square" rtlCol="0" anchor="ctr"/>
          <a:lstStyle/>
          <a:p>
            <a:pPr indent="0" marL="0">
              <a:buNone/>
            </a:pPr>
            <a:r>
              <a:rPr lang="en-US" sz="1150" b="1" dirty="0">
                <a:solidFill>
                  <a:srgbClr val="4DA6FF"/>
                </a:solidFill>
                <a:latin typeface="IBM Plex Mono" pitchFamily="34" charset="0"/>
                <a:ea typeface="IBM Plex Mono" pitchFamily="34" charset="-122"/>
                <a:cs typeface="IBM Plex Mono" pitchFamily="34" charset="-120"/>
              </a:rPr>
              <a:t>Nua = factored tensile force applied to anchor or group of anchors</a:t>
            </a:r>
            <a:endParaRPr lang="en-US" sz="1150" dirty="0"/>
          </a:p>
        </p:txBody>
      </p:sp>
      <p:sp>
        <p:nvSpPr>
          <p:cNvPr id="10" name="Text 8"/>
          <p:cNvSpPr/>
          <p:nvPr/>
        </p:nvSpPr>
        <p:spPr>
          <a:xfrm>
            <a:off x="640080" y="4023360"/>
            <a:ext cx="10881360" cy="365760"/>
          </a:xfrm>
          <a:prstGeom prst="rect">
            <a:avLst/>
          </a:prstGeom>
          <a:noFill/>
          <a:ln/>
        </p:spPr>
        <p:txBody>
          <a:bodyPr wrap="square" rtlCol="0" anchor="ctr"/>
          <a:lstStyle/>
          <a:p>
            <a:pPr indent="0" marL="0">
              <a:buNone/>
            </a:pPr>
            <a:r>
              <a:rPr lang="en-US" sz="1000" dirty="0">
                <a:solidFill>
                  <a:srgbClr val="DCE9F6"/>
                </a:solidFill>
                <a:latin typeface="IBM Plex Mono" pitchFamily="34" charset="0"/>
                <a:ea typeface="IBM Plex Mono" pitchFamily="34" charset="-122"/>
                <a:cs typeface="IBM Plex Mono" pitchFamily="34" charset="-120"/>
              </a:rPr>
              <a:t>Ncbg = nominal concrete breakout strength in tension of a group of anchors  (ACI 318-19 Notation, §17.6.2.1(b) 적용)</a:t>
            </a:r>
            <a:endParaRPr lang="en-US" sz="1000" dirty="0"/>
          </a:p>
        </p:txBody>
      </p:sp>
      <p:sp>
        <p:nvSpPr>
          <p:cNvPr id="11" name="Shape 9"/>
          <p:cNvSpPr/>
          <p:nvPr/>
        </p:nvSpPr>
        <p:spPr>
          <a:xfrm>
            <a:off x="411480" y="4617720"/>
            <a:ext cx="11338560" cy="1600200"/>
          </a:xfrm>
          <a:prstGeom prst="roundRect">
            <a:avLst>
              <a:gd name="adj" fmla="val 3429"/>
            </a:avLst>
          </a:prstGeom>
          <a:solidFill>
            <a:srgbClr val="FDEDED"/>
          </a:solidFill>
          <a:ln w="19050">
            <a:solidFill>
              <a:srgbClr val="B23A3A"/>
            </a:solidFill>
            <a:prstDash val="solid"/>
          </a:ln>
        </p:spPr>
      </p:sp>
      <p:sp>
        <p:nvSpPr>
          <p:cNvPr id="12" name="Text 10"/>
          <p:cNvSpPr/>
          <p:nvPr/>
        </p:nvSpPr>
        <p:spPr>
          <a:xfrm>
            <a:off x="640080" y="4736592"/>
            <a:ext cx="10881360" cy="274320"/>
          </a:xfrm>
          <a:prstGeom prst="rect">
            <a:avLst/>
          </a:prstGeom>
          <a:noFill/>
          <a:ln/>
        </p:spPr>
        <p:txBody>
          <a:bodyPr wrap="square" rtlCol="0" anchor="ctr"/>
          <a:lstStyle/>
          <a:p>
            <a:pPr indent="0" marL="0">
              <a:buNone/>
            </a:pPr>
            <a:r>
              <a:rPr lang="en-US" sz="1150" b="1" dirty="0">
                <a:solidFill>
                  <a:srgbClr val="B23A3A"/>
                </a:solidFill>
                <a:latin typeface="맑은 고딕" pitchFamily="34" charset="0"/>
                <a:ea typeface="맑은 고딕" pitchFamily="34" charset="-122"/>
                <a:cs typeface="맑은 고딕" pitchFamily="34" charset="-120"/>
              </a:rPr>
              <a:t>후속 조치 제안 (본 자료는 최종 판정이 아닌 1차 기술 검토 결과입니다)</a:t>
            </a:r>
            <a:endParaRPr lang="en-US" sz="1150" dirty="0"/>
          </a:p>
        </p:txBody>
      </p:sp>
      <p:sp>
        <p:nvSpPr>
          <p:cNvPr id="13" name="Text 11"/>
          <p:cNvSpPr/>
          <p:nvPr/>
        </p:nvSpPr>
        <p:spPr>
          <a:xfrm>
            <a:off x="640080" y="5074920"/>
            <a:ext cx="10881360" cy="1097280"/>
          </a:xfrm>
          <a:prstGeom prst="rect">
            <a:avLst/>
          </a:prstGeom>
          <a:noFill/>
          <a:ln/>
        </p:spPr>
        <p:txBody>
          <a:bodyPr wrap="square" rtlCol="0" anchor="ctr"/>
          <a:lstStyle/>
          <a:p>
            <a:pPr marL="342900" indent="-342900">
              <a:lnSpc>
                <a:spcPct val="115000"/>
              </a:lnSpc>
              <a:spcAft>
                <a:spcPts val="300"/>
              </a:spcAft>
              <a:buSzPct val="100000"/>
              <a:buChar char="①"/>
            </a:pPr>
            <a:r>
              <a:rPr lang="en-US" sz="980" dirty="0">
                <a:solidFill>
                  <a:srgbClr val="1F2430"/>
                </a:solidFill>
                <a:latin typeface="맑은 고딕" pitchFamily="34" charset="0"/>
                <a:ea typeface="맑은 고딕" pitchFamily="34" charset="-122"/>
                <a:cs typeface="맑은 고딕" pitchFamily="34" charset="-120"/>
              </a:rPr>
              <a:t>① 담당 구조기술자·부서장에게 본 비교 구조(개별 vs 그룹) 및 ACI 원문 근거를 그대로 공유, 공식 재검토 요청</a:t>
            </a:r>
            <a:endParaRPr lang="en-US" sz="980" dirty="0"/>
          </a:p>
          <a:p>
            <a:pPr marL="342900" indent="-342900">
              <a:lnSpc>
                <a:spcPct val="115000"/>
              </a:lnSpc>
              <a:spcAft>
                <a:spcPts val="300"/>
              </a:spcAft>
              <a:buSzPct val="100000"/>
              <a:buChar char="②"/>
            </a:pPr>
            <a:r>
              <a:rPr lang="en-US" sz="980" dirty="0">
                <a:solidFill>
                  <a:srgbClr val="1F2430"/>
                </a:solidFill>
                <a:latin typeface="맑은 고딕" pitchFamily="34" charset="0"/>
                <a:ea typeface="맑은 고딕" pitchFamily="34" charset="-122"/>
                <a:cs typeface="맑은 고딕" pitchFamily="34" charset="-120"/>
              </a:rPr>
              <a:t>② 이 프로젝트의 다른 governing LC 및 유사 TC2C 계산서 전반에 동일 패턴(1개 vs 그룹 비교)이 반복되는지 표본 확인</a:t>
            </a:r>
            <a:endParaRPr lang="en-US" sz="980" dirty="0"/>
          </a:p>
          <a:p>
            <a:pPr marL="342900" indent="-342900">
              <a:lnSpc>
                <a:spcPct val="115000"/>
              </a:lnSpc>
              <a:spcAft>
                <a:spcPts val="300"/>
              </a:spcAft>
              <a:buSzPct val="100000"/>
              <a:buChar char="③"/>
            </a:pPr>
            <a:r>
              <a:rPr lang="en-US" sz="980" dirty="0">
                <a:solidFill>
                  <a:srgbClr val="1F2430"/>
                </a:solidFill>
                <a:latin typeface="맑은 고딕" pitchFamily="34" charset="0"/>
                <a:ea typeface="맑은 고딕" pitchFamily="34" charset="-122"/>
                <a:cs typeface="맑은 고딕" pitchFamily="34" charset="-120"/>
              </a:rPr>
              <a:t>③ 실제 부족이 확인될 경우 기시공 기초에 대한 보강 필요성 검토(보강철근 추가, 화학앵커 보강 등) — 본 보고서의 긴급보강 도구 활용 가능</a:t>
            </a:r>
            <a:endParaRPr lang="en-US" sz="980" dirty="0"/>
          </a:p>
          <a:p>
            <a:pPr marL="342900" indent="-342900">
              <a:lnSpc>
                <a:spcPct val="115000"/>
              </a:lnSpc>
              <a:spcAft>
                <a:spcPts val="300"/>
              </a:spcAft>
              <a:buSzPct val="100000"/>
              <a:buChar char="④"/>
            </a:pPr>
            <a:r>
              <a:rPr lang="en-US" sz="980" dirty="0">
                <a:solidFill>
                  <a:srgbClr val="1F2430"/>
                </a:solidFill>
                <a:latin typeface="맑은 고딕" pitchFamily="34" charset="0"/>
                <a:ea typeface="맑은 고딕" pitchFamily="34" charset="-122"/>
                <a:cs typeface="맑은 고딕" pitchFamily="34" charset="-120"/>
              </a:rPr>
              <a:t>④ 계산 시스템 N1 산정 버그는 수정 완료 — 수정본으로 재계산한 정확한 저항력 수치를 확정하는 대로 본 보고서 갱신 예정</a:t>
            </a:r>
            <a:endParaRPr lang="en-US" sz="980" dirty="0"/>
          </a:p>
          <a:p>
            <a:pPr marL="342900" indent="-342900">
              <a:lnSpc>
                <a:spcPct val="115000"/>
              </a:lnSpc>
              <a:spcAft>
                <a:spcPts val="300"/>
              </a:spcAft>
              <a:buSzPct val="100000"/>
              <a:buChar char="⑤"/>
            </a:pPr>
            <a:r>
              <a:rPr lang="en-US" sz="980" dirty="0">
                <a:solidFill>
                  <a:srgbClr val="1F2430"/>
                </a:solidFill>
                <a:latin typeface="맑은 고딕" pitchFamily="34" charset="0"/>
                <a:ea typeface="맑은 고딕" pitchFamily="34" charset="-122"/>
                <a:cs typeface="맑은 고딕" pitchFamily="34" charset="-120"/>
              </a:rPr>
              <a:t>⑤ 본 건과 무관하게, 사내 앵커볼트 계산 표준(H-230101 등)에도 동일 비교기준 오류가 있는지 별도 전수 점검 필요</a:t>
            </a:r>
            <a:endParaRPr lang="en-US" sz="980" dirty="0"/>
          </a:p>
        </p:txBody>
      </p:sp>
      <p:sp>
        <p:nvSpPr>
          <p:cNvPr id="14" name="Text 12"/>
          <p:cNvSpPr/>
          <p:nvPr/>
        </p:nvSpPr>
        <p:spPr>
          <a:xfrm>
            <a:off x="411480" y="6537960"/>
            <a:ext cx="5486400" cy="256032"/>
          </a:xfrm>
          <a:prstGeom prst="rect">
            <a:avLst/>
          </a:prstGeom>
          <a:noFill/>
          <a:ln/>
        </p:spPr>
        <p:txBody>
          <a:bodyPr wrap="square" rtlCol="0" anchor="ctr"/>
          <a:lstStyle/>
          <a:p>
            <a:pPr indent="0" marL="0">
              <a:buNone/>
            </a:pPr>
            <a:r>
              <a:rPr lang="en-US" sz="800" dirty="0">
                <a:solidFill>
                  <a:srgbClr val="5B6472"/>
                </a:solidFill>
                <a:latin typeface="맑은 고딕" pitchFamily="34" charset="0"/>
                <a:ea typeface="맑은 고딕" pitchFamily="34" charset="-122"/>
                <a:cs typeface="맑은 고딕" pitchFamily="34" charset="-120"/>
              </a:rPr>
              <a:t>DL E&amp;C  |  지반구조설계팀</a:t>
            </a:r>
            <a:endParaRPr lang="en-US" sz="800" dirty="0"/>
          </a:p>
        </p:txBody>
      </p:sp>
      <p:sp>
        <p:nvSpPr>
          <p:cNvPr id="15" name="Text 13"/>
          <p:cNvSpPr/>
          <p:nvPr/>
        </p:nvSpPr>
        <p:spPr>
          <a:xfrm>
            <a:off x="11521440" y="6537960"/>
            <a:ext cx="457200" cy="256032"/>
          </a:xfrm>
          <a:prstGeom prst="rect">
            <a:avLst/>
          </a:prstGeom>
          <a:noFill/>
          <a:ln/>
        </p:spPr>
        <p:txBody>
          <a:bodyPr wrap="square" rtlCol="0" anchor="ctr"/>
          <a:lstStyle/>
          <a:p>
            <a:pPr algn="r" indent="0" marL="0">
              <a:buNone/>
            </a:pPr>
            <a:r>
              <a:rPr lang="en-US" sz="800" dirty="0">
                <a:solidFill>
                  <a:srgbClr val="5B6472"/>
                </a:solidFill>
                <a:latin typeface="맑은 고딕" pitchFamily="34" charset="0"/>
                <a:ea typeface="맑은 고딕" pitchFamily="34" charset="-122"/>
                <a:cs typeface="맑은 고딕"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94B"/>
        </a:solidFill>
      </p:bgPr>
    </p:bg>
    <p:spTree>
      <p:nvGrpSpPr>
        <p:cNvPr id="1" name=""/>
        <p:cNvGrpSpPr/>
        <p:nvPr/>
      </p:nvGrpSpPr>
      <p:grpSpPr>
        <a:xfrm>
          <a:off x="0" y="0"/>
          <a:ext cx="0" cy="0"/>
          <a:chOff x="0" y="0"/>
          <a:chExt cx="0" cy="0"/>
        </a:xfrm>
      </p:grpSpPr>
      <p:sp>
        <p:nvSpPr>
          <p:cNvPr id="2" name="Text 0"/>
          <p:cNvSpPr/>
          <p:nvPr/>
        </p:nvSpPr>
        <p:spPr>
          <a:xfrm>
            <a:off x="502920" y="502920"/>
            <a:ext cx="7315200" cy="548640"/>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첨부 자료 안내</a:t>
            </a:r>
            <a:endParaRPr lang="en-US" sz="2600" dirty="0"/>
          </a:p>
        </p:txBody>
      </p:sp>
      <p:sp>
        <p:nvSpPr>
          <p:cNvPr id="3" name="Text 1"/>
          <p:cNvSpPr/>
          <p:nvPr/>
        </p:nvSpPr>
        <p:spPr>
          <a:xfrm>
            <a:off x="502920" y="1371600"/>
            <a:ext cx="640080" cy="64008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01</a:t>
            </a:r>
            <a:endParaRPr lang="en-US" sz="1500" dirty="0"/>
          </a:p>
        </p:txBody>
      </p:sp>
      <p:sp>
        <p:nvSpPr>
          <p:cNvPr id="4" name="Text 2"/>
          <p:cNvSpPr/>
          <p:nvPr/>
        </p:nvSpPr>
        <p:spPr>
          <a:xfrm>
            <a:off x="1234440" y="1353312"/>
            <a:ext cx="10332720" cy="32004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AnchorBolt_Octagonal_v2.1.html</a:t>
            </a:r>
            <a:endParaRPr lang="en-US" sz="1350" dirty="0"/>
          </a:p>
        </p:txBody>
      </p:sp>
      <p:sp>
        <p:nvSpPr>
          <p:cNvPr id="5" name="Text 3"/>
          <p:cNvSpPr/>
          <p:nvPr/>
        </p:nvSpPr>
        <p:spPr>
          <a:xfrm>
            <a:off x="1234440" y="1664208"/>
            <a:ext cx="10332720" cy="320040"/>
          </a:xfrm>
          <a:prstGeom prst="rect">
            <a:avLst/>
          </a:prstGeom>
          <a:noFill/>
          <a:ln/>
        </p:spPr>
        <p:txBody>
          <a:bodyPr wrap="square" rtlCol="0" anchor="ctr"/>
          <a:lstStyle/>
          <a:p>
            <a:pPr indent="0" marL="0">
              <a:buNone/>
            </a:pPr>
            <a:r>
              <a:rPr lang="en-US" sz="950" dirty="0">
                <a:solidFill>
                  <a:srgbClr val="9FB3CC"/>
                </a:solidFill>
                <a:latin typeface="맑은 고딕" pitchFamily="34" charset="0"/>
                <a:ea typeface="맑은 고딕" pitchFamily="34" charset="-122"/>
                <a:cs typeface="맑은 고딕" pitchFamily="34" charset="-120"/>
              </a:rPr>
              <a:t>ANc/Vb 버그 수정 + 전단키(Shear Lug, §17.11) + Hilti Bond Preset 반영 계산 시스템</a:t>
            </a:r>
            <a:endParaRPr lang="en-US" sz="950" dirty="0"/>
          </a:p>
        </p:txBody>
      </p:sp>
      <p:sp>
        <p:nvSpPr>
          <p:cNvPr id="6" name="Text 4"/>
          <p:cNvSpPr/>
          <p:nvPr/>
        </p:nvSpPr>
        <p:spPr>
          <a:xfrm>
            <a:off x="502920" y="2148840"/>
            <a:ext cx="640080" cy="64008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02</a:t>
            </a:r>
            <a:endParaRPr lang="en-US" sz="1500" dirty="0"/>
          </a:p>
        </p:txBody>
      </p:sp>
      <p:sp>
        <p:nvSpPr>
          <p:cNvPr id="7" name="Text 5"/>
          <p:cNvSpPr/>
          <p:nvPr/>
        </p:nvSpPr>
        <p:spPr>
          <a:xfrm>
            <a:off x="1234440" y="2130552"/>
            <a:ext cx="10332720" cy="32004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AnchorBolt_Rectangular_v4.51_ShearLug.html</a:t>
            </a:r>
            <a:endParaRPr lang="en-US" sz="1350" dirty="0"/>
          </a:p>
        </p:txBody>
      </p:sp>
      <p:sp>
        <p:nvSpPr>
          <p:cNvPr id="8" name="Text 6"/>
          <p:cNvSpPr/>
          <p:nvPr/>
        </p:nvSpPr>
        <p:spPr>
          <a:xfrm>
            <a:off x="1234440" y="2441448"/>
            <a:ext cx="10332720" cy="320040"/>
          </a:xfrm>
          <a:prstGeom prst="rect">
            <a:avLst/>
          </a:prstGeom>
          <a:noFill/>
          <a:ln/>
        </p:spPr>
        <p:txBody>
          <a:bodyPr wrap="square" rtlCol="0" anchor="ctr"/>
          <a:lstStyle/>
          <a:p>
            <a:pPr indent="0" marL="0">
              <a:buNone/>
            </a:pPr>
            <a:r>
              <a:rPr lang="en-US" sz="950" dirty="0">
                <a:solidFill>
                  <a:srgbClr val="9FB3CC"/>
                </a:solidFill>
                <a:latin typeface="맑은 고딕" pitchFamily="34" charset="0"/>
                <a:ea typeface="맑은 고딕" pitchFamily="34" charset="-122"/>
                <a:cs typeface="맑은 고딕" pitchFamily="34" charset="-120"/>
              </a:rPr>
              <a:t>3,000줄 전수검증 완료 + 전단키(§17.11) 이식 + PDF 표기오류 2건 수정</a:t>
            </a:r>
            <a:endParaRPr lang="en-US" sz="950" dirty="0"/>
          </a:p>
        </p:txBody>
      </p:sp>
      <p:sp>
        <p:nvSpPr>
          <p:cNvPr id="9" name="Text 7"/>
          <p:cNvSpPr/>
          <p:nvPr/>
        </p:nvSpPr>
        <p:spPr>
          <a:xfrm>
            <a:off x="502920" y="2926080"/>
            <a:ext cx="640080" cy="64008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03</a:t>
            </a:r>
            <a:endParaRPr lang="en-US" sz="1500" dirty="0"/>
          </a:p>
        </p:txBody>
      </p:sp>
      <p:sp>
        <p:nvSpPr>
          <p:cNvPr id="10" name="Text 8"/>
          <p:cNvSpPr/>
          <p:nvPr/>
        </p:nvSpPr>
        <p:spPr>
          <a:xfrm>
            <a:off x="1234440" y="2907792"/>
            <a:ext cx="10332720" cy="32004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앵커볼트 계산 시스템 사용법 가이드 (Word)</a:t>
            </a:r>
            <a:endParaRPr lang="en-US" sz="1350" dirty="0"/>
          </a:p>
        </p:txBody>
      </p:sp>
      <p:sp>
        <p:nvSpPr>
          <p:cNvPr id="11" name="Text 9"/>
          <p:cNvSpPr/>
          <p:nvPr/>
        </p:nvSpPr>
        <p:spPr>
          <a:xfrm>
            <a:off x="1234440" y="3218688"/>
            <a:ext cx="10332720" cy="320040"/>
          </a:xfrm>
          <a:prstGeom prst="rect">
            <a:avLst/>
          </a:prstGeom>
          <a:noFill/>
          <a:ln/>
        </p:spPr>
        <p:txBody>
          <a:bodyPr wrap="square" rtlCol="0" anchor="ctr"/>
          <a:lstStyle/>
          <a:p>
            <a:pPr indent="0" marL="0">
              <a:buNone/>
            </a:pPr>
            <a:r>
              <a:rPr lang="en-US" sz="950" dirty="0">
                <a:solidFill>
                  <a:srgbClr val="9FB3CC"/>
                </a:solidFill>
                <a:latin typeface="맑은 고딕" pitchFamily="34" charset="0"/>
                <a:ea typeface="맑은 고딕" pitchFamily="34" charset="-122"/>
                <a:cs typeface="맑은 고딕" pitchFamily="34" charset="-120"/>
              </a:rPr>
              <a:t>화면 캡처·지시선, 전단키 개념도 포함 — 메뉴별 입력/출력 절차</a:t>
            </a:r>
            <a:endParaRPr lang="en-US" sz="950" dirty="0"/>
          </a:p>
        </p:txBody>
      </p:sp>
      <p:sp>
        <p:nvSpPr>
          <p:cNvPr id="12" name="Text 10"/>
          <p:cNvSpPr/>
          <p:nvPr/>
        </p:nvSpPr>
        <p:spPr>
          <a:xfrm>
            <a:off x="502920" y="3703320"/>
            <a:ext cx="640080" cy="64008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04</a:t>
            </a:r>
            <a:endParaRPr lang="en-US" sz="1500" dirty="0"/>
          </a:p>
        </p:txBody>
      </p:sp>
      <p:sp>
        <p:nvSpPr>
          <p:cNvPr id="13" name="Text 11"/>
          <p:cNvSpPr/>
          <p:nvPr/>
        </p:nvSpPr>
        <p:spPr>
          <a:xfrm>
            <a:off x="1234440" y="3685032"/>
            <a:ext cx="10332720" cy="32004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Hilti 화학앵커 요약 계산서 (Word)</a:t>
            </a:r>
            <a:endParaRPr lang="en-US" sz="1350" dirty="0"/>
          </a:p>
        </p:txBody>
      </p:sp>
      <p:sp>
        <p:nvSpPr>
          <p:cNvPr id="14" name="Text 12"/>
          <p:cNvSpPr/>
          <p:nvPr/>
        </p:nvSpPr>
        <p:spPr>
          <a:xfrm>
            <a:off x="1234440" y="3995928"/>
            <a:ext cx="10332720" cy="320040"/>
          </a:xfrm>
          <a:prstGeom prst="rect">
            <a:avLst/>
          </a:prstGeom>
          <a:noFill/>
          <a:ln/>
        </p:spPr>
        <p:txBody>
          <a:bodyPr wrap="square" rtlCol="0" anchor="ctr"/>
          <a:lstStyle/>
          <a:p>
            <a:pPr indent="0" marL="0">
              <a:buNone/>
            </a:pPr>
            <a:r>
              <a:rPr lang="en-US" sz="950" dirty="0">
                <a:solidFill>
                  <a:srgbClr val="9FB3CC"/>
                </a:solidFill>
                <a:latin typeface="맑은 고딕" pitchFamily="34" charset="0"/>
                <a:ea typeface="맑은 고딕" pitchFamily="34" charset="-122"/>
                <a:cs typeface="맑은 고딕" pitchFamily="34" charset="-120"/>
              </a:rPr>
              <a:t>HIT-RE 500 V3 예시 조건에 대한 §17.6.5 Bond 검토 요약</a:t>
            </a:r>
            <a:endParaRPr lang="en-US" sz="950" dirty="0"/>
          </a:p>
        </p:txBody>
      </p:sp>
      <p:sp>
        <p:nvSpPr>
          <p:cNvPr id="15" name="Text 13"/>
          <p:cNvSpPr/>
          <p:nvPr/>
        </p:nvSpPr>
        <p:spPr>
          <a:xfrm>
            <a:off x="502920" y="4480560"/>
            <a:ext cx="640080" cy="640080"/>
          </a:xfrm>
          <a:prstGeom prst="rect">
            <a:avLst/>
          </a:prstGeom>
          <a:noFill/>
          <a:ln/>
        </p:spPr>
        <p:txBody>
          <a:bodyPr wrap="square" rtlCol="0" anchor="ctr"/>
          <a:lstStyle/>
          <a:p>
            <a:pPr indent="0" marL="0">
              <a:buNone/>
            </a:pPr>
            <a:r>
              <a:rPr lang="en-US" sz="1500" b="1" dirty="0">
                <a:solidFill>
                  <a:srgbClr val="C9A227"/>
                </a:solidFill>
                <a:latin typeface="맑은 고딕" pitchFamily="34" charset="0"/>
                <a:ea typeface="맑은 고딕" pitchFamily="34" charset="-122"/>
                <a:cs typeface="맑은 고딕" pitchFamily="34" charset="-120"/>
              </a:rPr>
              <a:t>05</a:t>
            </a:r>
            <a:endParaRPr lang="en-US" sz="1500" dirty="0"/>
          </a:p>
        </p:txBody>
      </p:sp>
      <p:sp>
        <p:nvSpPr>
          <p:cNvPr id="16" name="Text 14"/>
          <p:cNvSpPr/>
          <p:nvPr/>
        </p:nvSpPr>
        <p:spPr>
          <a:xfrm>
            <a:off x="1234440" y="4462272"/>
            <a:ext cx="10332720" cy="320040"/>
          </a:xfrm>
          <a:prstGeom prst="rect">
            <a:avLst/>
          </a:prstGeom>
          <a:noFill/>
          <a:ln/>
        </p:spPr>
        <p:txBody>
          <a:bodyPr wrap="square"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Hilti 화학앵커 HTML 통합 제안서 (Word)</a:t>
            </a:r>
            <a:endParaRPr lang="en-US" sz="1350" dirty="0"/>
          </a:p>
        </p:txBody>
      </p:sp>
      <p:sp>
        <p:nvSpPr>
          <p:cNvPr id="17" name="Text 15"/>
          <p:cNvSpPr/>
          <p:nvPr/>
        </p:nvSpPr>
        <p:spPr>
          <a:xfrm>
            <a:off x="1234440" y="4773168"/>
            <a:ext cx="10332720" cy="320040"/>
          </a:xfrm>
          <a:prstGeom prst="rect">
            <a:avLst/>
          </a:prstGeom>
          <a:noFill/>
          <a:ln/>
        </p:spPr>
        <p:txBody>
          <a:bodyPr wrap="square" rtlCol="0" anchor="ctr"/>
          <a:lstStyle/>
          <a:p>
            <a:pPr indent="0" marL="0">
              <a:buNone/>
            </a:pPr>
            <a:r>
              <a:rPr lang="en-US" sz="950" dirty="0">
                <a:solidFill>
                  <a:srgbClr val="9FB3CC"/>
                </a:solidFill>
                <a:latin typeface="맑은 고딕" pitchFamily="34" charset="0"/>
                <a:ea typeface="맑은 고딕" pitchFamily="34" charset="-122"/>
                <a:cs typeface="맑은 고딕" pitchFamily="34" charset="-120"/>
              </a:rPr>
              <a:t>HTML 도구 확장을 위한 단계별 실행 계획</a:t>
            </a:r>
            <a:endParaRPr lang="en-US" sz="950" dirty="0"/>
          </a:p>
        </p:txBody>
      </p:sp>
      <p:sp>
        <p:nvSpPr>
          <p:cNvPr id="18" name="Text 16"/>
          <p:cNvSpPr/>
          <p:nvPr/>
        </p:nvSpPr>
        <p:spPr>
          <a:xfrm>
            <a:off x="502920" y="5943600"/>
            <a:ext cx="3657600" cy="365760"/>
          </a:xfrm>
          <a:prstGeom prst="rect">
            <a:avLst/>
          </a:prstGeom>
          <a:noFill/>
          <a:ln/>
        </p:spPr>
        <p:txBody>
          <a:bodyPr wrap="square" rtlCol="0" anchor="ctr"/>
          <a:lstStyle/>
          <a:p>
            <a:pPr indent="0" marL="0">
              <a:buNone/>
            </a:pPr>
            <a:r>
              <a:rPr lang="en-US" sz="1300" dirty="0">
                <a:solidFill>
                  <a:srgbClr val="7C8CA8"/>
                </a:solidFill>
                <a:latin typeface="맑은 고딕" pitchFamily="34" charset="0"/>
                <a:ea typeface="맑은 고딕" pitchFamily="34" charset="-122"/>
                <a:cs typeface="맑은 고딕" pitchFamily="34" charset="-120"/>
              </a:rPr>
              <a:t>감사합니다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2026-07-16T14:32:58Z</dcterms:created>
  <dcterms:modified xsi:type="dcterms:W3CDTF">2026-07-16T14:32:58Z</dcterms:modified>
</cp:coreProperties>
</file>